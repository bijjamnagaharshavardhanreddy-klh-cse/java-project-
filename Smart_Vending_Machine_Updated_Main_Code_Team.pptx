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1143000"/>
            <a:ext cx="2377440" cy="54864"/>
          </a:xfrm>
          <a:prstGeom prst="rect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1264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132320" cy="19202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4000" b="1">
                <a:solidFill>
                  <a:srgbClr val="FAFCFF"/>
                </a:solidFill>
                <a:latin typeface="Aptos"/>
              </a:rPr>
              <a:t>SMART VENDING
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58368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200" b="0">
                <a:solidFill>
                  <a:srgbClr val="CDDAEB"/>
                </a:solidFill>
                <a:latin typeface="Aptos"/>
              </a:rPr>
              <a:t>A simple Java application for product selection,
payment, and purchase summary.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325880"/>
            <a:ext cx="2651760" cy="4389120"/>
          </a:xfrm>
          <a:prstGeom prst="roundRect">
            <a:avLst/>
          </a:prstGeom>
          <a:solidFill>
            <a:srgbClr val="162341"/>
          </a:solidFill>
          <a:ln w="3175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41080" y="1691640"/>
            <a:ext cx="2011680" cy="594360"/>
          </a:xfrm>
          <a:prstGeom prst="rect">
            <a:avLst/>
          </a:prstGeom>
          <a:solidFill>
            <a:srgbClr val="040A18"/>
          </a:solidFill>
          <a:ln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1755648"/>
            <a:ext cx="178308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  <a:defRPr/>
            </a:pPr>
            <a:r>
              <a:rPr sz="1800" b="1">
                <a:solidFill>
                  <a:srgbClr val="66EBAA"/>
                </a:solidFill>
                <a:latin typeface="Aptos"/>
              </a:rPr>
              <a:t>SELECT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8512" y="2606040"/>
            <a:ext cx="438912" cy="457200"/>
          </a:xfrm>
          <a:prstGeom prst="roundRect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90304" y="2606040"/>
            <a:ext cx="438912" cy="457200"/>
          </a:xfrm>
          <a:prstGeom prst="roundRect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12096" y="2606040"/>
            <a:ext cx="438912" cy="457200"/>
          </a:xfrm>
          <a:prstGeom prst="round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68512" y="3319272"/>
            <a:ext cx="438912" cy="457200"/>
          </a:xfrm>
          <a:prstGeom prst="roundRect">
            <a:avLst/>
          </a:prstGeom>
          <a:solidFill>
            <a:srgbClr val="66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90304" y="3319272"/>
            <a:ext cx="438912" cy="457200"/>
          </a:xfrm>
          <a:prstGeom prst="roundRect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12096" y="3319272"/>
            <a:ext cx="438912" cy="457200"/>
          </a:xfrm>
          <a:prstGeom prst="roundRect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4251960"/>
            <a:ext cx="1920240" cy="640080"/>
          </a:xfrm>
          <a:prstGeom prst="rect">
            <a:avLst/>
          </a:prstGeom>
          <a:solidFill>
            <a:srgbClr val="060C1C"/>
          </a:solidFill>
          <a:ln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5943600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TEAM MEMBERS: HARSHA VARDHAN • GOVIND GOUD • PHANI TEJA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1800" b="1">
                <a:solidFill>
                  <a:srgbClr val="2DDCEB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3000" b="1">
                <a:solidFill>
                  <a:srgbClr val="FAFCFF"/>
                </a:solidFill>
                <a:latin typeface="Aptos"/>
              </a:rPr>
              <a:t>PROJECT 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972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700" b="1">
                <a:solidFill>
                  <a:srgbClr val="FAFCFF"/>
                </a:solidFill>
                <a:latin typeface="Aptos"/>
              </a:rPr>
              <a:t>The Smart Vending Machine is a beginner-friendly Java program that simulates buying items from a vending machine.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337560" cy="210312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80360"/>
            <a:ext cx="293522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100" b="1">
                <a:solidFill>
                  <a:srgbClr val="2DDCEB"/>
                </a:solidFill>
                <a:latin typeface="Aptos"/>
              </a:rPr>
              <a:t>01  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401568"/>
            <a:ext cx="2935224" cy="130759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000" b="0">
                <a:solidFill>
                  <a:srgbClr val="FAFCFF"/>
                </a:solidFill>
                <a:latin typeface="Aptos"/>
              </a:rPr>
              <a:t>Choose a product from the displayed menu.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337560" cy="210312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880360"/>
            <a:ext cx="293522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100" b="1">
                <a:solidFill>
                  <a:srgbClr val="FF5D9C"/>
                </a:solidFill>
                <a:latin typeface="Aptos"/>
              </a:rPr>
              <a:t>02 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401568"/>
            <a:ext cx="2935224" cy="130759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000" b="0">
                <a:solidFill>
                  <a:srgbClr val="FAFCFF"/>
                </a:solidFill>
                <a:latin typeface="Aptos"/>
              </a:rPr>
              <a:t>Enter the amount and check whether it is enough.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43200"/>
            <a:ext cx="3337560" cy="210312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880360"/>
            <a:ext cx="293522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2100" b="1">
                <a:solidFill>
                  <a:srgbClr val="FFD34D"/>
                </a:solidFill>
                <a:latin typeface="Aptos"/>
              </a:rPr>
              <a:t>03  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3401568"/>
            <a:ext cx="2935224" cy="130759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1900" b="0">
                <a:solidFill>
                  <a:srgbClr val="FAFCFF"/>
                </a:solidFill>
                <a:latin typeface="Aptos"/>
              </a:rPr>
              <a:t>Show the purchase result and balance/change if implemented.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7899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>
                <a:solidFill/>
              </a:defRPr>
            </a:pPr>
            <a:r>
              <a:rPr sz="1700" b="0">
                <a:solidFill>
                  <a:srgbClr val="CDDAEB"/>
                </a:solidFill>
                <a:latin typeface="Aptos"/>
              </a:rPr>
              <a:t>Language: Java   •   Type: Console-based project (adapt to your implementation)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74920" cy="43434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2DDCEB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84248"/>
            <a:ext cx="4672583" cy="3547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FAFCFF"/>
                </a:solidFill>
                <a:latin typeface="Aptos"/>
              </a:rPr>
              <a:t>Manual product selection and payment can be confusing. A small program can guide the user through a clear menu and simple purchase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074920" cy="43434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463039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5D9C"/>
                </a:solidFill>
                <a:latin typeface="Aptos"/>
              </a:rPr>
              <a:t>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984248"/>
            <a:ext cx="4672583" cy="35478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FAFCFF"/>
                </a:solidFill>
                <a:latin typeface="Aptos"/>
              </a:rPr>
              <a:t>• Display available products
• Accept the user's choice
• Check the payment amount
• Display a clear result
• Practise core Java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FD34D"/>
                </a:solidFill>
                <a:latin typeface="Aptos"/>
              </a:rPr>
              <a:t>Expected result: a simple, understandable vending-machine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800" b="1">
                <a:solidFill>
                  <a:srgbClr val="2DDCEB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3000" b="1">
                <a:solidFill>
                  <a:srgbClr val="FAFCFF"/>
                </a:solidFill>
                <a:latin typeface="Aptos"/>
              </a:rPr>
              <a:t>JAVA CONCEPTS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8424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Store product names, prices, choice, and payment.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463039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FF5D9C"/>
                </a:solidFill>
                <a:latin typeface="Aptos"/>
              </a:rPr>
              <a:t>INPUT /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Use Scanner and print messages to the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463039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FFD34D"/>
                </a:solidFill>
                <a:latin typeface="Aptos"/>
              </a:rPr>
              <a:t>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98424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Use if/else to validate choice and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65760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66E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3794760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66EBAA"/>
                </a:solidFill>
                <a:latin typeface="Aptos"/>
              </a:rPr>
              <a:t>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31596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000" b="0">
                <a:solidFill>
                  <a:srgbClr val="FAFCFF"/>
                </a:solidFill>
                <a:latin typeface="Aptos"/>
              </a:rPr>
              <a:t>Repeat the menu when the program needs another choice.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3429000" cy="182880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794760"/>
            <a:ext cx="3026664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315968"/>
            <a:ext cx="3026664" cy="103327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000" b="0">
                <a:solidFill>
                  <a:srgbClr val="FAFCFF"/>
                </a:solidFill>
                <a:latin typeface="Aptos"/>
              </a:rPr>
              <a:t>Separate tasks into smaller reusable parts, if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HOW THE PROGRAM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298448"/>
            <a:ext cx="530352" cy="530352"/>
          </a:xfrm>
          <a:prstGeom prst="ellipse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8016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Start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67128"/>
            <a:ext cx="530352" cy="530352"/>
          </a:xfrm>
          <a:prstGeom prst="ellipse">
            <a:avLst/>
          </a:prstGeom>
          <a:solidFill>
            <a:srgbClr val="F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14884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Display product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7919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035808"/>
            <a:ext cx="530352" cy="530352"/>
          </a:xfrm>
          <a:prstGeom prst="ellipse">
            <a:avLst/>
          </a:prstGeom>
          <a:solidFill>
            <a:srgbClr val="FF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Read product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54787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04487"/>
            <a:ext cx="530352" cy="530352"/>
          </a:xfrm>
          <a:prstGeom prst="ellipse">
            <a:avLst/>
          </a:prstGeom>
          <a:solidFill>
            <a:srgbClr val="66E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8620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Read payment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16552"/>
            <a:ext cx="36576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DDAEB"/>
                </a:solidFill>
                <a:latin typeface="Aptos"/>
              </a:rPr>
              <a:t>↓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773168"/>
            <a:ext cx="530352" cy="530352"/>
          </a:xfrm>
          <a:prstGeom prst="ellipse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530352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0A1226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754880"/>
            <a:ext cx="7955279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AFCFF"/>
                </a:solidFill>
                <a:latin typeface="Aptos"/>
              </a:rPr>
              <a:t>Validate and show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98755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FD34D"/>
                </a:solidFill>
                <a:latin typeface="Aptos"/>
              </a:rPr>
              <a:t>The exact flow should match the code you submit.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DESIGN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420624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2DDCEB"/>
                </a:solidFill>
                <a:latin typeface="Aptos"/>
              </a:rPr>
              <a:t>PROGRAM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075688"/>
            <a:ext cx="4672583" cy="341071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FAFCFF"/>
                </a:solidFill>
                <a:latin typeface="Aptos"/>
              </a:rPr>
              <a:t>Keep the code organised and readable.
• Use meaningful variable names
• Separate steps where helpful
• Add comments for key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74920" cy="420624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554480"/>
            <a:ext cx="467258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5D9C"/>
                </a:solidFill>
                <a:latin typeface="Aptos"/>
              </a:rPr>
              <a:t>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75688"/>
            <a:ext cx="4672583" cy="3410711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FAFCFF"/>
                </a:solidFill>
                <a:latin typeface="Aptos"/>
              </a:rPr>
              <a:t>Check common user inputs:
• Is the selected item valid?
• Is the payment enough?
• Is the input in the expected format?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52160"/>
            <a:ext cx="1069848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D34D"/>
                </a:solidFill>
                <a:latin typeface="Aptos"/>
              </a:rPr>
              <a:t>Mention classes, objects, arrays, or file handling only if your code actually uses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DDCEB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AFCFF"/>
                </a:solidFill>
                <a:latin typeface="Aptos"/>
              </a:rPr>
              <a:t>SAMPLE OUTPUT &amp;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984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The updated Java source code is shown on the following slides. The final slide displays its actual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337560" cy="3017520"/>
          </a:xfrm>
          <a:prstGeom prst="roundRect">
            <a:avLst/>
          </a:prstGeom>
          <a:solidFill>
            <a:srgbClr val="050C1C"/>
          </a:solidFill>
          <a:ln w="2540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94560"/>
            <a:ext cx="30175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JAVA CODE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0">
                <a:solidFill>
                  <a:srgbClr val="FAFCFF"/>
                </a:solidFill>
                <a:latin typeface="Aptos"/>
              </a:rPr>
              <a:t>Product list and prices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28803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SEE FINAL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337560" cy="3017520"/>
          </a:xfrm>
          <a:prstGeom prst="roundRect">
            <a:avLst/>
          </a:prstGeom>
          <a:solidFill>
            <a:srgbClr val="050C1C"/>
          </a:solidFill>
          <a:ln w="2540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194560"/>
            <a:ext cx="30175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JAVA CODE — PART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7180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0">
                <a:solidFill>
                  <a:srgbClr val="FAFCFF"/>
                </a:solidFill>
                <a:latin typeface="Aptos"/>
              </a:rPr>
              <a:t>User's product choice and 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43400"/>
            <a:ext cx="28803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SEE FINAL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337560" cy="3017520"/>
          </a:xfrm>
          <a:prstGeom prst="roundRect">
            <a:avLst/>
          </a:prstGeom>
          <a:solidFill>
            <a:srgbClr val="050C1C"/>
          </a:solidFill>
          <a:ln w="25400">
            <a:solidFill>
              <a:srgbClr val="FF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194560"/>
            <a:ext cx="301752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FINAL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71800"/>
            <a:ext cx="2697480" cy="868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0">
                <a:solidFill>
                  <a:srgbClr val="FAFCFF"/>
                </a:solidFill>
                <a:latin typeface="Aptos"/>
              </a:rPr>
              <a:t>Purchase status and balance/change, if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43400"/>
            <a:ext cx="288036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SEE FINAL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800" b="1">
                <a:solidFill>
                  <a:srgbClr val="2DDCEB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860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3000" b="1">
                <a:solidFill>
                  <a:srgbClr val="FAFCFF"/>
                </a:solidFill>
                <a:latin typeface="Aptos"/>
              </a:rPr>
              <a:t>CONCLUSION &amp; PROJECT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2728" y="941832"/>
            <a:ext cx="1234440" cy="50292"/>
          </a:xfrm>
          <a:prstGeom prst="rect">
            <a:avLst/>
          </a:prstGeom>
          <a:solidFill>
            <a:srgbClr val="2D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9601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500" b="1">
                <a:solidFill>
                  <a:srgbClr val="FAFCFF"/>
                </a:solidFill>
                <a:latin typeface="Aptos"/>
              </a:rPr>
              <a:t>The project demonstrates how Java can be used to model a simple real-world transaction through input, decisions, and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4892040" cy="201168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2D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97479"/>
            <a:ext cx="448970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2DDCEB"/>
                </a:solidFill>
                <a:latin typeface="Aptos"/>
              </a:rPr>
              <a:t>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218687"/>
            <a:ext cx="4489703" cy="12161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0">
                <a:solidFill>
                  <a:srgbClr val="FAFCFF"/>
                </a:solidFill>
                <a:latin typeface="Aptos"/>
              </a:rPr>
              <a:t>Java basics • Conditions • User input • Program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60320"/>
            <a:ext cx="4892040" cy="2011680"/>
          </a:xfrm>
          <a:prstGeom prst="roundRect">
            <a:avLst/>
          </a:prstGeom>
          <a:solidFill>
            <a:srgbClr val="162341"/>
          </a:solidFill>
          <a:ln w="20320">
            <a:solidFill>
              <a:srgbClr val="F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2697479"/>
            <a:ext cx="4489703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100" b="1">
                <a:solidFill>
                  <a:srgbClr val="FF5D9C"/>
                </a:solidFill>
                <a:latin typeface="Aptos"/>
              </a:rPr>
              <a:t>BEFORE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3218687"/>
            <a:ext cx="4489703" cy="12161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r>
              <a:t>Team members and roll numbers are listed below. This project demonstrates Java classes, inheritance, method overloading, and method overriding.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834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r>
              <a:t>TEAM MEMBERS:</a:t>
            </a:r>
          </a:p>
          <a:p>
            <a:r>
              <a:t>Harsha Vardhan — 2620030433</a:t>
            </a:r>
          </a:p>
          <a:p>
            <a:r>
              <a:t>Govind Goud — 2620030475</a:t>
            </a:r>
          </a:p>
          <a:p>
            <a:r>
              <a:t>Phani Teja — 2620040125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3212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1800" b="1">
                <a:solidFill>
                  <a:srgbClr val="CDDAEB"/>
                </a:solidFill>
                <a:latin typeface="Aptos"/>
              </a:rPr>
              <a:t>GITHUB LINK: __________________________________________________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80760"/>
            <a:ext cx="10424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spcAft>
                <a:spcPts val="500"/>
              </a:spcAft>
              <a:defRPr/>
            </a:pPr>
            <a:r>
              <a:rPr sz="2400" b="1">
                <a:solidFill>
                  <a:srgbClr val="FFD34D"/>
                </a:solidFill>
                <a:latin typeface="Aptos"/>
              </a:rPr>
              <a:t>Thank you!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UPDATED JAVA CODE  | 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1–20 / 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class Product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String name;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double price;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// Constructor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Product(String name, double price)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this.name = name;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this.price = price;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// Method overloading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double calculateBill(int quantity)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return price * quantity;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double calculateBill(int quantity, double discount)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double total = price * quantity;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return total - (total * discount / 100);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Main.java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UPDATED JAVA CODE  | 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21–40 / 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// Method to be overridden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void display()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System.out.println("Product: " + name);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System.out.println("Price: Rs." + price);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class SmartProduct extends Product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// Constructor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SmartProduct(String name, double price)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super(name, price);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// Method overriding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@Override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void display()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System.out.println("Smart Vending Machine");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System.out.println("Product: " + name);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System.out.println("Price: Rs." + price);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Main.java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00EBC8"/>
                </a:solidFill>
                <a:latin typeface="Aptos Display"/>
              </a:defRPr>
            </a:pPr>
            <a:r>
              <a:t>UPDATED JAVA CODE  | 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9BAFC8"/>
                </a:solidFill>
                <a:latin typeface="Aptos"/>
              </a:defRPr>
            </a:pPr>
            <a:r>
              <a:t>LINES 41–58 / 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841248"/>
            <a:ext cx="11292840" cy="54406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927080" cy="5230368"/>
          </a:xfrm>
          <a:prstGeom prst="rect">
            <a:avLst/>
          </a:prstGeom>
          <a:noFill/>
        </p:spPr>
        <p:txBody>
          <a:bodyPr wrap="none" lIns="18288" rIns="18288" tIns="18288" bIns="0" anchor="t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System.out.println("Available for purchase!");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public class Main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SmartProduct p = new SmartProduct("Chocolate", 50);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p.display();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System.out.println("Bill without discount: Rs."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        + p.calculateBill(3));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System.out.println("Bill with 10% discount: Rs."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            + p.calculateBill(3, 10));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E1EBF8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155680" cy="20116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SMART VENDING MACHINE  •  Main.java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00EBC8"/>
                </a:solidFill>
                <a:latin typeface="Aptos Display"/>
              </a:defRPr>
            </a:pPr>
            <a:r>
              <a:t>FINAL SLIDE  |  ACTUAL JAVA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BECDE1"/>
                </a:solidFill>
                <a:latin typeface="Aptos"/>
              </a:defRPr>
            </a:pPr>
            <a:r>
              <a:t>Output from Main.java: Chocolate at Rs.50, quantity 3, with and without a 10% discount.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4983480"/>
          </a:xfrm>
          <a:prstGeom prst="roundRect">
            <a:avLst/>
          </a:prstGeom>
          <a:solidFill>
            <a:srgbClr val="121B2F"/>
          </a:solidFill>
          <a:ln>
            <a:solidFill>
              <a:srgbClr val="2B4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058400" cy="33832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EBC8"/>
                </a:solidFill>
                <a:latin typeface="Consolas"/>
              </a:defRPr>
            </a:pPr>
            <a:r>
              <a:t>Smart Vending Machine</a:t>
            </a:r>
          </a:p>
          <a:p>
            <a:pPr>
              <a:spcAft>
                <a:spcPts val="1200"/>
              </a:spcAft>
              <a:defRPr sz="2300">
                <a:solidFill>
                  <a:srgbClr val="E1F5FA"/>
                </a:solidFill>
                <a:latin typeface="Consolas"/>
              </a:defRPr>
            </a:pPr>
            <a:r>
              <a:t>Product: Chocolate</a:t>
            </a:r>
          </a:p>
          <a:p>
            <a:pPr>
              <a:spcAft>
                <a:spcPts val="1200"/>
              </a:spcAft>
              <a:defRPr sz="2300">
                <a:solidFill>
                  <a:srgbClr val="E1F5FA"/>
                </a:solidFill>
                <a:latin typeface="Consolas"/>
              </a:defRPr>
            </a:pPr>
            <a:r>
              <a:t>Price: Rs.50.0</a:t>
            </a:r>
          </a:p>
          <a:p>
            <a:pPr>
              <a:spcAft>
                <a:spcPts val="1200"/>
              </a:spcAft>
              <a:defRPr sz="2300">
                <a:solidFill>
                  <a:srgbClr val="E1F5FA"/>
                </a:solidFill>
                <a:latin typeface="Consolas"/>
              </a:defRPr>
            </a:pPr>
            <a:r>
              <a:t>Available for purchase!</a:t>
            </a:r>
          </a:p>
          <a:p>
            <a:pPr>
              <a:spcAft>
                <a:spcPts val="1200"/>
              </a:spcAft>
              <a:defRPr sz="2300">
                <a:solidFill>
                  <a:srgbClr val="E1F5FA"/>
                </a:solidFill>
                <a:latin typeface="Consolas"/>
              </a:defRPr>
            </a:pPr>
            <a:r>
              <a:t>Bill without discount: Rs.150.0</a:t>
            </a:r>
          </a:p>
          <a:p>
            <a:pPr>
              <a:spcAft>
                <a:spcPts val="1200"/>
              </a:spcAft>
              <a:defRPr sz="2300">
                <a:solidFill>
                  <a:srgbClr val="E1F5FA"/>
                </a:solidFill>
                <a:latin typeface="Consolas"/>
              </a:defRPr>
            </a:pPr>
            <a:r>
              <a:t>Bill with 10% discount: Rs.135.0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>
                <a:solidFill>
                  <a:srgbClr val="7891AF"/>
                </a:solidFill>
                <a:latin typeface="Aptos"/>
              </a:defRPr>
            </a:pPr>
            <a:r>
              <a:t>Team: Harsha Vardhan • Govind Goud • Phani Teja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