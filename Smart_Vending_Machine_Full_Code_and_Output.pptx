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F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52560" y="1143000"/>
            <a:ext cx="2377440" cy="54864"/>
          </a:xfrm>
          <a:prstGeom prst="rect">
            <a:avLst/>
          </a:prstGeom>
          <a:solidFill>
            <a:srgbClr val="FF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6126480" cy="5029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  <a:defRPr/>
            </a:pPr>
            <a:r>
              <a:rPr sz="2100" b="1">
                <a:solidFill>
                  <a:srgbClr val="2DDCEB"/>
                </a:solidFill>
                <a:latin typeface="Aptos"/>
              </a:rPr>
              <a:t>JAVA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7132320" cy="19202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  <a:defRPr/>
            </a:pPr>
            <a:r>
              <a:rPr sz="4000" b="1">
                <a:solidFill>
                  <a:srgbClr val="FAFCFF"/>
                </a:solidFill>
                <a:latin typeface="Aptos"/>
              </a:rPr>
              <a:t>SMART VENDING
MACHINE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94760"/>
            <a:ext cx="658368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  <a:defRPr/>
            </a:pPr>
            <a:r>
              <a:rPr sz="2200" b="0">
                <a:solidFill>
                  <a:srgbClr val="CDDAEB"/>
                </a:solidFill>
                <a:latin typeface="Aptos"/>
              </a:rPr>
              <a:t>A simple Java application for product selection,
payment, and purchase summary.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325880"/>
            <a:ext cx="2651760" cy="4389120"/>
          </a:xfrm>
          <a:prstGeom prst="roundRect">
            <a:avLst/>
          </a:prstGeom>
          <a:solidFill>
            <a:srgbClr val="162341"/>
          </a:solidFill>
          <a:ln w="31750">
            <a:solidFill>
              <a:srgbClr val="2D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41080" y="1691640"/>
            <a:ext cx="2011680" cy="594360"/>
          </a:xfrm>
          <a:prstGeom prst="rect">
            <a:avLst/>
          </a:prstGeom>
          <a:solidFill>
            <a:srgbClr val="040A18"/>
          </a:solidFill>
          <a:ln>
            <a:solidFill>
              <a:srgbClr val="2D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9952" y="1755648"/>
            <a:ext cx="1783080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500"/>
              </a:spcAft>
              <a:defRPr/>
            </a:pPr>
            <a:r>
              <a:rPr sz="1800" b="1">
                <a:solidFill>
                  <a:srgbClr val="66EBAA"/>
                </a:solidFill>
                <a:latin typeface="Aptos"/>
              </a:rPr>
              <a:t>SELECT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68512" y="2606040"/>
            <a:ext cx="438912" cy="457200"/>
          </a:xfrm>
          <a:prstGeom prst="roundRect">
            <a:avLst/>
          </a:prstGeom>
          <a:solidFill>
            <a:srgbClr val="FF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290304" y="2606040"/>
            <a:ext cx="438912" cy="457200"/>
          </a:xfrm>
          <a:prstGeom prst="roundRect">
            <a:avLst/>
          </a:prstGeom>
          <a:solidFill>
            <a:srgbClr val="FF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912096" y="2606040"/>
            <a:ext cx="438912" cy="457200"/>
          </a:xfrm>
          <a:prstGeom prst="roundRect">
            <a:avLst/>
          </a:prstGeom>
          <a:solidFill>
            <a:srgbClr val="2D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68512" y="3319272"/>
            <a:ext cx="438912" cy="457200"/>
          </a:xfrm>
          <a:prstGeom prst="roundRect">
            <a:avLst/>
          </a:prstGeom>
          <a:solidFill>
            <a:srgbClr val="66E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290304" y="3319272"/>
            <a:ext cx="438912" cy="457200"/>
          </a:xfrm>
          <a:prstGeom prst="roundRect">
            <a:avLst/>
          </a:prstGeom>
          <a:solidFill>
            <a:srgbClr val="FF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912096" y="3319272"/>
            <a:ext cx="438912" cy="457200"/>
          </a:xfrm>
          <a:prstGeom prst="roundRect">
            <a:avLst/>
          </a:prstGeom>
          <a:solidFill>
            <a:srgbClr val="FF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0" y="4251960"/>
            <a:ext cx="1920240" cy="640080"/>
          </a:xfrm>
          <a:prstGeom prst="rect">
            <a:avLst/>
          </a:prstGeom>
          <a:solidFill>
            <a:srgbClr val="060C1C"/>
          </a:solidFill>
          <a:ln>
            <a:solidFill>
              <a:srgbClr val="2D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897880"/>
            <a:ext cx="5943600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  <a:defRPr/>
            </a:pPr>
            <a:r>
              <a:rPr sz="1500" b="0">
                <a:solidFill>
                  <a:srgbClr val="CDDAEB"/>
                </a:solidFill>
                <a:latin typeface="Aptos"/>
              </a:rPr>
              <a:t>TEAM / NAME: 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  <a:defRPr>
                <a:solidFill/>
              </a:defRPr>
            </a:pPr>
            <a:r>
              <a:rPr sz="1800" b="1">
                <a:solidFill>
                  <a:srgbClr val="2DDCEB"/>
                </a:solidFill>
                <a:latin typeface="Apto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28600"/>
            <a:ext cx="10332720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  <a:defRPr>
                <a:solidFill/>
              </a:defRPr>
            </a:pPr>
            <a:r>
              <a:rPr sz="3000" b="1">
                <a:solidFill>
                  <a:srgbClr val="FAFCFF"/>
                </a:solidFill>
                <a:latin typeface="Aptos"/>
              </a:rPr>
              <a:t>PROJECT ABSTRACT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1252728" y="941832"/>
            <a:ext cx="1234440" cy="50292"/>
          </a:xfrm>
          <a:prstGeom prst="rect">
            <a:avLst/>
          </a:prstGeom>
          <a:solidFill>
            <a:srgbClr val="2D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515600" cy="10972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  <a:defRPr>
                <a:solidFill/>
              </a:defRPr>
            </a:pPr>
            <a:r>
              <a:rPr sz="2700" b="1">
                <a:solidFill>
                  <a:srgbClr val="FAFCFF"/>
                </a:solidFill>
                <a:latin typeface="Aptos"/>
              </a:rPr>
              <a:t>The Smart Vending Machine is a beginner-friendly Java program that simulates buying items from a vending machine.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743200"/>
            <a:ext cx="3337560" cy="2103120"/>
          </a:xfrm>
          <a:prstGeom prst="roundRect">
            <a:avLst/>
          </a:prstGeom>
          <a:solidFill>
            <a:srgbClr val="162341"/>
          </a:solidFill>
          <a:ln w="20320">
            <a:solidFill>
              <a:srgbClr val="2D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880360"/>
            <a:ext cx="2935224" cy="43891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  <a:defRPr>
                <a:solidFill/>
              </a:defRPr>
            </a:pPr>
            <a:r>
              <a:rPr sz="2100" b="1">
                <a:solidFill>
                  <a:srgbClr val="2DDCEB"/>
                </a:solidFill>
                <a:latin typeface="Aptos"/>
              </a:rPr>
              <a:t>01  SELECT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3401568"/>
            <a:ext cx="2935224" cy="1307591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500"/>
              </a:spcAft>
              <a:defRPr>
                <a:solidFill/>
              </a:defRPr>
            </a:pPr>
            <a:r>
              <a:rPr sz="2000" b="0">
                <a:solidFill>
                  <a:srgbClr val="FAFCFF"/>
                </a:solidFill>
                <a:latin typeface="Aptos"/>
              </a:rPr>
              <a:t>Choose a product from the displayed menu.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743200"/>
            <a:ext cx="3337560" cy="2103120"/>
          </a:xfrm>
          <a:prstGeom prst="roundRect">
            <a:avLst/>
          </a:prstGeom>
          <a:solidFill>
            <a:srgbClr val="162341"/>
          </a:solidFill>
          <a:ln w="20320">
            <a:solidFill>
              <a:srgbClr val="FF5D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2880360"/>
            <a:ext cx="2935224" cy="43891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  <a:defRPr>
                <a:solidFill/>
              </a:defRPr>
            </a:pPr>
            <a:r>
              <a:rPr sz="2100" b="1">
                <a:solidFill>
                  <a:srgbClr val="FF5D9C"/>
                </a:solidFill>
                <a:latin typeface="Aptos"/>
              </a:rPr>
              <a:t>02  PAY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3401568"/>
            <a:ext cx="2935224" cy="1307591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500"/>
              </a:spcAft>
              <a:defRPr>
                <a:solidFill/>
              </a:defRPr>
            </a:pPr>
            <a:r>
              <a:rPr sz="2000" b="0">
                <a:solidFill>
                  <a:srgbClr val="FAFCFF"/>
                </a:solidFill>
                <a:latin typeface="Aptos"/>
              </a:rPr>
              <a:t>Enter the amount and check whether it is enough.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2743200"/>
            <a:ext cx="3337560" cy="2103120"/>
          </a:xfrm>
          <a:prstGeom prst="roundRect">
            <a:avLst/>
          </a:prstGeom>
          <a:solidFill>
            <a:srgbClr val="162341"/>
          </a:solidFill>
          <a:ln w="20320">
            <a:solidFill>
              <a:srgbClr val="FF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3608" y="2880360"/>
            <a:ext cx="2935224" cy="43891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  <a:defRPr>
                <a:solidFill/>
              </a:defRPr>
            </a:pPr>
            <a:r>
              <a:rPr sz="2100" b="1">
                <a:solidFill>
                  <a:srgbClr val="FFD34D"/>
                </a:solidFill>
                <a:latin typeface="Aptos"/>
              </a:rPr>
              <a:t>03  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608" y="3401568"/>
            <a:ext cx="2935224" cy="1307591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500"/>
              </a:spcAft>
              <a:defRPr>
                <a:solidFill/>
              </a:defRPr>
            </a:pPr>
            <a:r>
              <a:rPr sz="1900" b="0">
                <a:solidFill>
                  <a:srgbClr val="FAFCFF"/>
                </a:solidFill>
                <a:latin typeface="Aptos"/>
              </a:rPr>
              <a:t>Show the purchase result and balance/change if implemented.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623560"/>
            <a:ext cx="1078992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  <a:defRPr>
                <a:solidFill/>
              </a:defRPr>
            </a:pPr>
            <a:r>
              <a:rPr sz="1700" b="0">
                <a:solidFill>
                  <a:srgbClr val="CDDAEB"/>
                </a:solidFill>
                <a:latin typeface="Aptos"/>
              </a:rPr>
              <a:t>Language: Java   •   Type: Console-based project (adapt to your implementation)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2DDCEB"/>
                </a:solidFill>
                <a:latin typeface="Apto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28600"/>
            <a:ext cx="10332720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FAFCFF"/>
                </a:solidFill>
                <a:latin typeface="Aptos"/>
              </a:rPr>
              <a:t>PROBLEM STATEMENT &amp;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252728" y="941832"/>
            <a:ext cx="1234440" cy="50292"/>
          </a:xfrm>
          <a:prstGeom prst="rect">
            <a:avLst/>
          </a:prstGeom>
          <a:solidFill>
            <a:srgbClr val="2D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5074920" cy="4343400"/>
          </a:xfrm>
          <a:prstGeom prst="roundRect">
            <a:avLst/>
          </a:prstGeom>
          <a:solidFill>
            <a:srgbClr val="162341"/>
          </a:solidFill>
          <a:ln w="20320">
            <a:solidFill>
              <a:srgbClr val="2D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463039"/>
            <a:ext cx="4672583" cy="43891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2DDCEB"/>
                </a:solidFill>
                <a:latin typeface="Aptos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1984248"/>
            <a:ext cx="4672583" cy="354787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0">
                <a:solidFill>
                  <a:srgbClr val="FAFCFF"/>
                </a:solidFill>
                <a:latin typeface="Aptos"/>
              </a:rPr>
              <a:t>Manual product selection and payment can be confusing. A small program can guide the user through a clear menu and simple purchase steps.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074920" cy="4343400"/>
          </a:xfrm>
          <a:prstGeom prst="roundRect">
            <a:avLst/>
          </a:prstGeom>
          <a:solidFill>
            <a:srgbClr val="162341"/>
          </a:solidFill>
          <a:ln w="20320">
            <a:solidFill>
              <a:srgbClr val="FF5D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4807" y="1463039"/>
            <a:ext cx="4672583" cy="43891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F5D9C"/>
                </a:solidFill>
                <a:latin typeface="Aptos"/>
              </a:rPr>
              <a:t>PROJECT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4807" y="1984248"/>
            <a:ext cx="4672583" cy="354787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0">
                <a:solidFill>
                  <a:srgbClr val="FAFCFF"/>
                </a:solidFill>
                <a:latin typeface="Aptos"/>
              </a:rPr>
              <a:t>• Display available products
• Accept the user's choice
• Check the payment amount
• Display a clear result
• Practise core Java concepts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897880"/>
            <a:ext cx="10515600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>
                <a:solidFill>
                  <a:srgbClr val="FFD34D"/>
                </a:solidFill>
                <a:latin typeface="Aptos"/>
              </a:rPr>
              <a:t>Expected result: a simple, understandable vending-machine simulation.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  <a:defRPr/>
            </a:pPr>
            <a:r>
              <a:rPr sz="1800" b="1">
                <a:solidFill>
                  <a:srgbClr val="2DDCEB"/>
                </a:solidFill>
                <a:latin typeface="Apto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28600"/>
            <a:ext cx="10332720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  <a:defRPr/>
            </a:pPr>
            <a:r>
              <a:rPr sz="3000" b="1">
                <a:solidFill>
                  <a:srgbClr val="FAFCFF"/>
                </a:solidFill>
                <a:latin typeface="Aptos"/>
              </a:rPr>
              <a:t>JAVA CONCEPTS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1252728" y="941832"/>
            <a:ext cx="1234440" cy="50292"/>
          </a:xfrm>
          <a:prstGeom prst="rect">
            <a:avLst/>
          </a:prstGeom>
          <a:solidFill>
            <a:srgbClr val="2D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3429000" cy="1828800"/>
          </a:xfrm>
          <a:prstGeom prst="roundRect">
            <a:avLst/>
          </a:prstGeom>
          <a:solidFill>
            <a:srgbClr val="162341"/>
          </a:solidFill>
          <a:ln w="20320">
            <a:solidFill>
              <a:srgbClr val="2D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463039"/>
            <a:ext cx="3026664" cy="43891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  <a:defRPr/>
            </a:pPr>
            <a:r>
              <a:rPr sz="2100" b="1">
                <a:solidFill>
                  <a:srgbClr val="2DDCEB"/>
                </a:solidFill>
                <a:latin typeface="Aptos"/>
              </a:rPr>
              <a:t>VARIABLES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1984248"/>
            <a:ext cx="3026664" cy="1033271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500"/>
              </a:spcAft>
              <a:defRPr/>
            </a:pPr>
            <a:r>
              <a:rPr sz="2100" b="0">
                <a:solidFill>
                  <a:srgbClr val="FAFCFF"/>
                </a:solidFill>
                <a:latin typeface="Aptos"/>
              </a:rPr>
              <a:t>Store product names, prices, choice, and payment.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429000" cy="1828800"/>
          </a:xfrm>
          <a:prstGeom prst="roundRect">
            <a:avLst/>
          </a:prstGeom>
          <a:solidFill>
            <a:srgbClr val="162341"/>
          </a:solidFill>
          <a:ln w="20320">
            <a:solidFill>
              <a:srgbClr val="FF5D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0288" y="1463039"/>
            <a:ext cx="3026664" cy="43891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  <a:defRPr/>
            </a:pPr>
            <a:r>
              <a:rPr sz="2100" b="1">
                <a:solidFill>
                  <a:srgbClr val="FF5D9C"/>
                </a:solidFill>
                <a:latin typeface="Aptos"/>
              </a:rPr>
              <a:t>INPUT / 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1984248"/>
            <a:ext cx="3026664" cy="1033271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500"/>
              </a:spcAft>
              <a:defRPr/>
            </a:pPr>
            <a:r>
              <a:rPr sz="2100" b="0">
                <a:solidFill>
                  <a:srgbClr val="FAFCFF"/>
                </a:solidFill>
                <a:latin typeface="Aptos"/>
              </a:rPr>
              <a:t>Use Scanner and print messages to the user.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325880"/>
            <a:ext cx="3429000" cy="1828800"/>
          </a:xfrm>
          <a:prstGeom prst="roundRect">
            <a:avLst/>
          </a:prstGeom>
          <a:solidFill>
            <a:srgbClr val="162341"/>
          </a:solidFill>
          <a:ln w="20320">
            <a:solidFill>
              <a:srgbClr val="FF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2168" y="1463039"/>
            <a:ext cx="3026664" cy="43891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  <a:defRPr/>
            </a:pPr>
            <a:r>
              <a:rPr sz="2100" b="1">
                <a:solidFill>
                  <a:srgbClr val="FFD34D"/>
                </a:solidFill>
                <a:latin typeface="Aptos"/>
              </a:rPr>
              <a:t>CONDITIONS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2168" y="1984248"/>
            <a:ext cx="3026664" cy="1033271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500"/>
              </a:spcAft>
              <a:defRPr/>
            </a:pPr>
            <a:r>
              <a:rPr sz="2100" b="0">
                <a:solidFill>
                  <a:srgbClr val="FAFCFF"/>
                </a:solidFill>
                <a:latin typeface="Aptos"/>
              </a:rPr>
              <a:t>Use if/else to validate choice and payment.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3657600"/>
            <a:ext cx="3429000" cy="1828800"/>
          </a:xfrm>
          <a:prstGeom prst="roundRect">
            <a:avLst/>
          </a:prstGeom>
          <a:solidFill>
            <a:srgbClr val="162341"/>
          </a:solidFill>
          <a:ln w="20320">
            <a:solidFill>
              <a:srgbClr val="66E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61488" y="3794760"/>
            <a:ext cx="3026664" cy="43891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  <a:defRPr/>
            </a:pPr>
            <a:r>
              <a:rPr sz="2100" b="1">
                <a:solidFill>
                  <a:srgbClr val="66EBAA"/>
                </a:solidFill>
                <a:latin typeface="Aptos"/>
              </a:rPr>
              <a:t>LOOPS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61488" y="4315968"/>
            <a:ext cx="3026664" cy="1033271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500"/>
              </a:spcAft>
              <a:defRPr/>
            </a:pPr>
            <a:r>
              <a:rPr sz="2000" b="0">
                <a:solidFill>
                  <a:srgbClr val="FAFCFF"/>
                </a:solidFill>
                <a:latin typeface="Aptos"/>
              </a:rPr>
              <a:t>Repeat the menu when the program needs another choice.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657600"/>
            <a:ext cx="3429000" cy="1828800"/>
          </a:xfrm>
          <a:prstGeom prst="roundRect">
            <a:avLst/>
          </a:prstGeom>
          <a:solidFill>
            <a:srgbClr val="162341"/>
          </a:solidFill>
          <a:ln w="20320">
            <a:solidFill>
              <a:srgbClr val="2D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3794760"/>
            <a:ext cx="3026664" cy="43891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  <a:defRPr/>
            </a:pPr>
            <a:r>
              <a:rPr sz="2100" b="1">
                <a:solidFill>
                  <a:srgbClr val="2DDCEB"/>
                </a:solidFill>
                <a:latin typeface="Aptos"/>
              </a:rPr>
              <a:t>METHODS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4315968"/>
            <a:ext cx="3026664" cy="1033271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500"/>
              </a:spcAft>
              <a:defRPr/>
            </a:pPr>
            <a:r>
              <a:rPr sz="2000" b="0">
                <a:solidFill>
                  <a:srgbClr val="FAFCFF"/>
                </a:solidFill>
                <a:latin typeface="Aptos"/>
              </a:rPr>
              <a:t>Separate tasks into smaller reusable parts, if used.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2DDCEB"/>
                </a:solidFill>
                <a:latin typeface="Aptos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28600"/>
            <a:ext cx="10332720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FAFCFF"/>
                </a:solidFill>
                <a:latin typeface="Aptos"/>
              </a:rPr>
              <a:t>HOW THE PROGRAM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1252728" y="941832"/>
            <a:ext cx="1234440" cy="50292"/>
          </a:xfrm>
          <a:prstGeom prst="rect">
            <a:avLst/>
          </a:prstGeom>
          <a:solidFill>
            <a:srgbClr val="2D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298448"/>
            <a:ext cx="530352" cy="530352"/>
          </a:xfrm>
          <a:prstGeom prst="ellipse">
            <a:avLst/>
          </a:prstGeom>
          <a:solidFill>
            <a:srgbClr val="2D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530352" cy="43891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2000" b="1">
                <a:solidFill>
                  <a:srgbClr val="0A1226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280160"/>
            <a:ext cx="7955279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FAFCFF"/>
                </a:solidFill>
                <a:latin typeface="Aptos"/>
              </a:rPr>
              <a:t>Start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810512"/>
            <a:ext cx="365760" cy="3108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2000" b="1">
                <a:solidFill>
                  <a:srgbClr val="CDDAEB"/>
                </a:solidFill>
                <a:latin typeface="Aptos"/>
              </a:rPr>
              <a:t>↓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167128"/>
            <a:ext cx="530352" cy="530352"/>
          </a:xfrm>
          <a:prstGeom prst="ellipse">
            <a:avLst/>
          </a:prstGeom>
          <a:solidFill>
            <a:srgbClr val="FF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94560"/>
            <a:ext cx="530352" cy="43891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2000" b="1">
                <a:solidFill>
                  <a:srgbClr val="0A1226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148840"/>
            <a:ext cx="7955279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FAFCFF"/>
                </a:solidFill>
                <a:latin typeface="Aptos"/>
              </a:rPr>
              <a:t>Display product menu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679192"/>
            <a:ext cx="365760" cy="3108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2000" b="1">
                <a:solidFill>
                  <a:srgbClr val="CDDAEB"/>
                </a:solidFill>
                <a:latin typeface="Aptos"/>
              </a:rPr>
              <a:t>↓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035808"/>
            <a:ext cx="530352" cy="530352"/>
          </a:xfrm>
          <a:prstGeom prst="ellipse">
            <a:avLst/>
          </a:prstGeom>
          <a:solidFill>
            <a:srgbClr val="FF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063239"/>
            <a:ext cx="530352" cy="43891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2000" b="1">
                <a:solidFill>
                  <a:srgbClr val="0A1226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017520"/>
            <a:ext cx="7955279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FAFCFF"/>
                </a:solidFill>
                <a:latin typeface="Aptos"/>
              </a:rPr>
              <a:t>Read product choice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3547872"/>
            <a:ext cx="365760" cy="3108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2000" b="1">
                <a:solidFill>
                  <a:srgbClr val="CDDAEB"/>
                </a:solidFill>
                <a:latin typeface="Aptos"/>
              </a:rPr>
              <a:t>↓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3904487"/>
            <a:ext cx="530352" cy="530352"/>
          </a:xfrm>
          <a:prstGeom prst="ellipse">
            <a:avLst/>
          </a:prstGeom>
          <a:solidFill>
            <a:srgbClr val="66E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931920"/>
            <a:ext cx="530352" cy="43891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2000" b="1">
                <a:solidFill>
                  <a:srgbClr val="0A1226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3886200"/>
            <a:ext cx="7955279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FAFCFF"/>
                </a:solidFill>
                <a:latin typeface="Aptos"/>
              </a:rPr>
              <a:t>Read payment amount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4416552"/>
            <a:ext cx="365760" cy="3108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2000" b="1">
                <a:solidFill>
                  <a:srgbClr val="CDDAEB"/>
                </a:solidFill>
                <a:latin typeface="Aptos"/>
              </a:rPr>
              <a:t>↓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4773168"/>
            <a:ext cx="530352" cy="530352"/>
          </a:xfrm>
          <a:prstGeom prst="ellipse">
            <a:avLst/>
          </a:prstGeom>
          <a:solidFill>
            <a:srgbClr val="2D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800600"/>
            <a:ext cx="530352" cy="43891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2000" b="1">
                <a:solidFill>
                  <a:srgbClr val="0A1226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4754880"/>
            <a:ext cx="7955279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FAFCFF"/>
                </a:solidFill>
                <a:latin typeface="Aptos"/>
              </a:rPr>
              <a:t>Validate and show 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806440"/>
            <a:ext cx="9875520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>
                <a:solidFill>
                  <a:srgbClr val="FFD34D"/>
                </a:solidFill>
                <a:latin typeface="Aptos"/>
              </a:rPr>
              <a:t>The exact flow should match the code you submit.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2DDCEB"/>
                </a:solidFill>
                <a:latin typeface="Aptos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28600"/>
            <a:ext cx="10332720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FAFCFF"/>
                </a:solidFill>
                <a:latin typeface="Aptos"/>
              </a:rPr>
              <a:t>DESIGN &amp;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252728" y="941832"/>
            <a:ext cx="1234440" cy="50292"/>
          </a:xfrm>
          <a:prstGeom prst="rect">
            <a:avLst/>
          </a:prstGeom>
          <a:solidFill>
            <a:srgbClr val="2D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5074920" cy="4206240"/>
          </a:xfrm>
          <a:prstGeom prst="roundRect">
            <a:avLst/>
          </a:prstGeom>
          <a:solidFill>
            <a:srgbClr val="162341"/>
          </a:solidFill>
          <a:ln w="20320">
            <a:solidFill>
              <a:srgbClr val="2D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554480"/>
            <a:ext cx="4672583" cy="43891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2DDCEB"/>
                </a:solidFill>
                <a:latin typeface="Aptos"/>
              </a:rPr>
              <a:t>PROGRAM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2075688"/>
            <a:ext cx="4672583" cy="3410711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0">
                <a:solidFill>
                  <a:srgbClr val="FAFCFF"/>
                </a:solidFill>
                <a:latin typeface="Aptos"/>
              </a:rPr>
              <a:t>Keep the code organised and readable.
• Use meaningful variable names
• Separate steps where helpful
• Add comments for key logic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074920" cy="4206240"/>
          </a:xfrm>
          <a:prstGeom prst="roundRect">
            <a:avLst/>
          </a:prstGeom>
          <a:solidFill>
            <a:srgbClr val="162341"/>
          </a:solidFill>
          <a:ln w="20320">
            <a:solidFill>
              <a:srgbClr val="FF5D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4807" y="1554480"/>
            <a:ext cx="4672583" cy="43891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F5D9C"/>
                </a:solidFill>
                <a:latin typeface="Aptos"/>
              </a:rPr>
              <a:t>VALIDATION CHECKS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4807" y="2075688"/>
            <a:ext cx="4672583" cy="3410711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0">
                <a:solidFill>
                  <a:srgbClr val="FAFCFF"/>
                </a:solidFill>
                <a:latin typeface="Aptos"/>
              </a:rPr>
              <a:t>Check common user inputs:
• Is the selected item valid?
• Is the payment enough?
• Is the input in the expected format?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852160"/>
            <a:ext cx="1069848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FFD34D"/>
                </a:solidFill>
                <a:latin typeface="Aptos"/>
              </a:rPr>
              <a:t>Mention classes, objects, arrays, or file handling only if your code actually uses them.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2DDCEB"/>
                </a:solidFill>
                <a:latin typeface="Aptos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28600"/>
            <a:ext cx="10332720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FAFCFF"/>
                </a:solidFill>
                <a:latin typeface="Aptos"/>
              </a:rPr>
              <a:t>SAMPLE OUTPUT &amp; SCREENSHOTS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252728" y="941832"/>
            <a:ext cx="1234440" cy="50292"/>
          </a:xfrm>
          <a:prstGeom prst="rect">
            <a:avLst/>
          </a:prstGeom>
          <a:solidFill>
            <a:srgbClr val="2D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698480" cy="5029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r>
              <a:t>The complete Java source code follows in clear, numbered sections. A sample run appears on the final slide.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65960"/>
            <a:ext cx="3337560" cy="3017520"/>
          </a:xfrm>
          <a:prstGeom prst="roundRect">
            <a:avLst/>
          </a:prstGeom>
          <a:solidFill>
            <a:srgbClr val="050C1C"/>
          </a:solidFill>
          <a:ln w="25400">
            <a:solidFill>
              <a:srgbClr val="2D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194560"/>
            <a:ext cx="3017520" cy="5029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r>
              <a:t>CODE SECTION — 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71800"/>
            <a:ext cx="2697480" cy="8686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2100" b="0">
                <a:solidFill>
                  <a:srgbClr val="FAFCFF"/>
                </a:solidFill>
                <a:latin typeface="Aptos"/>
              </a:rPr>
              <a:t>Product list and prices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2880360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r>
              <a:t>SEE FINAL OUTPUT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965960"/>
            <a:ext cx="3337560" cy="3017520"/>
          </a:xfrm>
          <a:prstGeom prst="roundRect">
            <a:avLst/>
          </a:prstGeom>
          <a:solidFill>
            <a:srgbClr val="050C1C"/>
          </a:solidFill>
          <a:ln w="25400">
            <a:solidFill>
              <a:srgbClr val="FF5D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1" y="2194560"/>
            <a:ext cx="3017520" cy="5029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r>
              <a:t>CODE SECTION — LOGIC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971800"/>
            <a:ext cx="2697480" cy="8686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2100" b="0">
                <a:solidFill>
                  <a:srgbClr val="FAFCFF"/>
                </a:solidFill>
                <a:latin typeface="Aptos"/>
              </a:rPr>
              <a:t>User's product choice and payment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4343400"/>
            <a:ext cx="2880360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r>
              <a:t>SEE FINAL OUTPUT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965960"/>
            <a:ext cx="3337560" cy="3017520"/>
          </a:xfrm>
          <a:prstGeom prst="roundRect">
            <a:avLst/>
          </a:prstGeom>
          <a:solidFill>
            <a:srgbClr val="050C1C"/>
          </a:solidFill>
          <a:ln w="25400">
            <a:solidFill>
              <a:srgbClr val="FF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1" y="2194560"/>
            <a:ext cx="3017520" cy="5029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r>
              <a:t>FINAL SLIDE —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971800"/>
            <a:ext cx="2697480" cy="8686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2100" b="0">
                <a:solidFill>
                  <a:srgbClr val="FAFCFF"/>
                </a:solidFill>
                <a:latin typeface="Aptos"/>
              </a:rPr>
              <a:t>Purchase status and balance/change, if supported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343400"/>
            <a:ext cx="2880360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r>
              <a:t>SEE FINAL OUTPUT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  <a:defRPr/>
            </a:pPr>
            <a:r>
              <a:rPr sz="1800" b="1">
                <a:solidFill>
                  <a:srgbClr val="2DDCEB"/>
                </a:solidFill>
                <a:latin typeface="Aptos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28600"/>
            <a:ext cx="10332720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  <a:defRPr/>
            </a:pPr>
            <a:r>
              <a:rPr sz="3000" b="1">
                <a:solidFill>
                  <a:srgbClr val="FAFCFF"/>
                </a:solidFill>
                <a:latin typeface="Aptos"/>
              </a:rPr>
              <a:t>CONCLUSION &amp; PROJECT DETAILS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1252728" y="941832"/>
            <a:ext cx="1234440" cy="50292"/>
          </a:xfrm>
          <a:prstGeom prst="rect">
            <a:avLst/>
          </a:prstGeom>
          <a:solidFill>
            <a:srgbClr val="2D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607040" cy="9601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  <a:defRPr/>
            </a:pPr>
            <a:r>
              <a:rPr sz="2500" b="1">
                <a:solidFill>
                  <a:srgbClr val="FAFCFF"/>
                </a:solidFill>
                <a:latin typeface="Aptos"/>
              </a:rPr>
              <a:t>The project demonstrates how Java can be used to model a simple real-world transaction through input, decisions, and output.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560320"/>
            <a:ext cx="4892040" cy="2011680"/>
          </a:xfrm>
          <a:prstGeom prst="roundRect">
            <a:avLst/>
          </a:prstGeom>
          <a:solidFill>
            <a:srgbClr val="162341"/>
          </a:solidFill>
          <a:ln w="20320">
            <a:solidFill>
              <a:srgbClr val="2D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697479"/>
            <a:ext cx="4489703" cy="43891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  <a:defRPr/>
            </a:pPr>
            <a:r>
              <a:rPr sz="2100" b="1">
                <a:solidFill>
                  <a:srgbClr val="2DDCEB"/>
                </a:solidFill>
                <a:latin typeface="Aptos"/>
              </a:rPr>
              <a:t>WHAT WE LEARNED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3218687"/>
            <a:ext cx="4489703" cy="121615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500"/>
              </a:spcAft>
              <a:defRPr/>
            </a:pPr>
            <a:r>
              <a:rPr sz="2100" b="0">
                <a:solidFill>
                  <a:srgbClr val="FAFCFF"/>
                </a:solidFill>
                <a:latin typeface="Aptos"/>
              </a:rPr>
              <a:t>Java basics • Conditions • User input • Program 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2560320"/>
            <a:ext cx="4892040" cy="2011680"/>
          </a:xfrm>
          <a:prstGeom prst="roundRect">
            <a:avLst/>
          </a:prstGeom>
          <a:solidFill>
            <a:srgbClr val="162341"/>
          </a:solidFill>
          <a:ln w="20320">
            <a:solidFill>
              <a:srgbClr val="FF5D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6248" y="2697479"/>
            <a:ext cx="4489703" cy="43891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  <a:defRPr/>
            </a:pPr>
            <a:r>
              <a:rPr sz="2100" b="1">
                <a:solidFill>
                  <a:srgbClr val="FF5D9C"/>
                </a:solidFill>
                <a:latin typeface="Aptos"/>
              </a:rPr>
              <a:t>BEFORE SUBMISSION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6248" y="3218687"/>
            <a:ext cx="4489703" cy="121615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500"/>
              </a:spcAft>
              <a:defRPr/>
            </a:pPr>
            <a:r>
              <a:rPr sz="2000" b="0">
                <a:solidFill>
                  <a:srgbClr val="FAFCFF"/>
                </a:solidFill>
                <a:latin typeface="Aptos"/>
              </a:rPr>
              <a:t>Add team names, roll numbers, code screenshots, and your GitHub link.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983480"/>
            <a:ext cx="1051560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  <a:defRPr/>
            </a:pPr>
            <a:r>
              <a:rPr sz="1800" b="1">
                <a:solidFill>
                  <a:srgbClr val="CDDAEB"/>
                </a:solidFill>
                <a:latin typeface="Aptos"/>
              </a:rPr>
              <a:t>TEAM MEMBERS: ______________________________________________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532120"/>
            <a:ext cx="1051560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  <a:defRPr/>
            </a:pPr>
            <a:r>
              <a:rPr sz="1800" b="1">
                <a:solidFill>
                  <a:srgbClr val="CDDAEB"/>
                </a:solidFill>
                <a:latin typeface="Aptos"/>
              </a:rPr>
              <a:t>GITHUB LINK: __________________________________________________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6080760"/>
            <a:ext cx="1042416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  <a:defRPr/>
            </a:pPr>
            <a:r>
              <a:rPr sz="2400" b="1">
                <a:solidFill>
                  <a:srgbClr val="FFD34D"/>
                </a:solidFill>
                <a:latin typeface="Aptos"/>
              </a:rPr>
              <a:t>Thank you!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00" b="1">
                <a:solidFill>
                  <a:srgbClr val="00EBC8"/>
                </a:solidFill>
                <a:latin typeface="Aptos Display"/>
              </a:defRPr>
            </a:pPr>
            <a:r>
              <a:t>JAVA SOURCE CODE  |  PART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74320"/>
            <a:ext cx="2514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9BAFC8"/>
                </a:solidFill>
                <a:latin typeface="Aptos"/>
              </a:defRPr>
            </a:pPr>
            <a:r>
              <a:t>LINES 1–24 / 541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841248"/>
            <a:ext cx="11292840" cy="5440680"/>
          </a:xfrm>
          <a:prstGeom prst="roundRect">
            <a:avLst/>
          </a:prstGeom>
          <a:solidFill>
            <a:srgbClr val="121B2F"/>
          </a:solidFill>
          <a:ln>
            <a:solidFill>
              <a:srgbClr val="2B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932688"/>
            <a:ext cx="10927080" cy="5230368"/>
          </a:xfrm>
          <a:prstGeom prst="rect">
            <a:avLst/>
          </a:prstGeom>
          <a:noFill/>
        </p:spPr>
        <p:txBody>
          <a:bodyPr wrap="none" lIns="18288" rIns="18288" tIns="18288" bIns="0" anchor="t">
            <a:spAutoFit/>
          </a:bodyPr>
          <a:lstStyle/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import java.util.*;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import java.nio.file.*;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import java.io.IOException;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import java.nio.charset.StandardCharsets;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import java.time.LocalDateTime;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import java.time.format.DateTimeFormatter;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import java.util.stream.Collectors;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// MODULE 4: Interface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interface Payable {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boolean pay(double amount);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// MODULE 4: Abstract class and encapsulation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abstract class Product {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private final int id;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private final String name;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private final double price;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private int stock;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private final String category;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public Product(int id, String name, double price,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       int stock, String category) {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155680" cy="201168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900">
                <a:solidFill>
                  <a:srgbClr val="7891AF"/>
                </a:solidFill>
                <a:latin typeface="Aptos"/>
              </a:defRPr>
            </a:pPr>
            <a:r>
              <a:t>SMART VENDING MACHINE  •  SmartVendingMachine.java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00" b="1">
                <a:solidFill>
                  <a:srgbClr val="00EBC8"/>
                </a:solidFill>
                <a:latin typeface="Aptos Display"/>
              </a:defRPr>
            </a:pPr>
            <a:r>
              <a:t>JAVA SOURCE CODE  |  PART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74320"/>
            <a:ext cx="2514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9BAFC8"/>
                </a:solidFill>
                <a:latin typeface="Aptos"/>
              </a:defRPr>
            </a:pPr>
            <a:r>
              <a:t>LINES 25–48 / 541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841248"/>
            <a:ext cx="11292840" cy="5440680"/>
          </a:xfrm>
          <a:prstGeom prst="roundRect">
            <a:avLst/>
          </a:prstGeom>
          <a:solidFill>
            <a:srgbClr val="121B2F"/>
          </a:solidFill>
          <a:ln>
            <a:solidFill>
              <a:srgbClr val="2B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932688"/>
            <a:ext cx="10927080" cy="5230368"/>
          </a:xfrm>
          <a:prstGeom prst="rect">
            <a:avLst/>
          </a:prstGeom>
          <a:noFill/>
        </p:spPr>
        <p:txBody>
          <a:bodyPr wrap="none" lIns="18288" rIns="18288" tIns="18288" bIns="0" anchor="t">
            <a:spAutoFit/>
          </a:bodyPr>
          <a:lstStyle/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this.id = id;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this.name = name;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this.price = price;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this.stock = stock;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this.category = category;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public int getId() {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return id;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public String getName() {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return name;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public double getPrice() {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return price;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public int getStock() {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return stock;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public String getCategory() {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155680" cy="201168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900">
                <a:solidFill>
                  <a:srgbClr val="7891AF"/>
                </a:solidFill>
                <a:latin typeface="Aptos"/>
              </a:defRPr>
            </a:pPr>
            <a:r>
              <a:t>SMART VENDING MACHINE  •  SmartVendingMachine.java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00" b="1">
                <a:solidFill>
                  <a:srgbClr val="00EBC8"/>
                </a:solidFill>
                <a:latin typeface="Aptos Display"/>
              </a:defRPr>
            </a:pPr>
            <a:r>
              <a:t>JAVA SOURCE CODE  |  PART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74320"/>
            <a:ext cx="2514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9BAFC8"/>
                </a:solidFill>
                <a:latin typeface="Aptos"/>
              </a:defRPr>
            </a:pPr>
            <a:r>
              <a:t>LINES 49–72 / 541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841248"/>
            <a:ext cx="11292840" cy="5440680"/>
          </a:xfrm>
          <a:prstGeom prst="roundRect">
            <a:avLst/>
          </a:prstGeom>
          <a:solidFill>
            <a:srgbClr val="121B2F"/>
          </a:solidFill>
          <a:ln>
            <a:solidFill>
              <a:srgbClr val="2B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932688"/>
            <a:ext cx="10927080" cy="5230368"/>
          </a:xfrm>
          <a:prstGeom prst="rect">
            <a:avLst/>
          </a:prstGeom>
          <a:noFill/>
        </p:spPr>
        <p:txBody>
          <a:bodyPr wrap="none" lIns="18288" rIns="18288" tIns="18288" bIns="0" anchor="t">
            <a:spAutoFit/>
          </a:bodyPr>
          <a:lstStyle/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return category;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public void setStock(int stock) {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this.stock = stock;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public abstract String getType();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@Override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public String toString() {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return String.format(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"%-4d %-20s Rs.%-8.2f Stock: %-3d [%s]",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id, name, price, stock, getType()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// MODULE 4: Inheritance and method overriding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class SmartProduct extends Product {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public SmartProduct(int id, String name, double price,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            int stock, String category) {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super(id, name, price, stock, category);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155680" cy="201168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900">
                <a:solidFill>
                  <a:srgbClr val="7891AF"/>
                </a:solidFill>
                <a:latin typeface="Aptos"/>
              </a:defRPr>
            </a:pPr>
            <a:r>
              <a:t>SMART VENDING MACHINE  •  SmartVendingMachine.java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00" b="1">
                <a:solidFill>
                  <a:srgbClr val="00EBC8"/>
                </a:solidFill>
                <a:latin typeface="Aptos Display"/>
              </a:defRPr>
            </a:pPr>
            <a:r>
              <a:t>JAVA SOURCE CODE  |  PART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74320"/>
            <a:ext cx="2514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9BAFC8"/>
                </a:solidFill>
                <a:latin typeface="Aptos"/>
              </a:defRPr>
            </a:pPr>
            <a:r>
              <a:t>LINES 73–96 / 541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841248"/>
            <a:ext cx="11292840" cy="5440680"/>
          </a:xfrm>
          <a:prstGeom prst="roundRect">
            <a:avLst/>
          </a:prstGeom>
          <a:solidFill>
            <a:srgbClr val="121B2F"/>
          </a:solidFill>
          <a:ln>
            <a:solidFill>
              <a:srgbClr val="2B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932688"/>
            <a:ext cx="10927080" cy="5230368"/>
          </a:xfrm>
          <a:prstGeom prst="rect">
            <a:avLst/>
          </a:prstGeom>
          <a:noFill/>
        </p:spPr>
        <p:txBody>
          <a:bodyPr wrap="none" lIns="18288" rIns="18288" tIns="18288" bIns="0" anchor="t">
            <a:spAutoFit/>
          </a:bodyPr>
          <a:lstStyle/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@Override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public String getType() {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return getCategory();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// MODULE 4: Interface implementation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class DigitalPayment implements Payable {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@Override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public boolean pay(double amount) {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return Double.isFinite(amount) &amp;&amp; amount &gt;= 0;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public class SmartVendingMachine {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// MODULE 1: Constants and static members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private static final String MACHINE_NAME =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"NEOTECH AI VENDING SYSTEM";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private static final String FILE_NAME = "transactions.txt";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private static final Scanner sc = new Scanner(System.in);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// MODULE 3: One-dimensional array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155680" cy="201168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900">
                <a:solidFill>
                  <a:srgbClr val="7891AF"/>
                </a:solidFill>
                <a:latin typeface="Aptos"/>
              </a:defRPr>
            </a:pPr>
            <a:r>
              <a:t>SMART VENDING MACHINE  •  SmartVendingMachine.java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00" b="1">
                <a:solidFill>
                  <a:srgbClr val="00EBC8"/>
                </a:solidFill>
                <a:latin typeface="Aptos Display"/>
              </a:defRPr>
            </a:pPr>
            <a:r>
              <a:t>JAVA SOURCE CODE  |  PART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74320"/>
            <a:ext cx="2514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9BAFC8"/>
                </a:solidFill>
                <a:latin typeface="Aptos"/>
              </a:defRPr>
            </a:pPr>
            <a:r>
              <a:t>LINES 97–120 / 541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841248"/>
            <a:ext cx="11292840" cy="5440680"/>
          </a:xfrm>
          <a:prstGeom prst="roundRect">
            <a:avLst/>
          </a:prstGeom>
          <a:solidFill>
            <a:srgbClr val="121B2F"/>
          </a:solidFill>
          <a:ln>
            <a:solidFill>
              <a:srgbClr val="2B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932688"/>
            <a:ext cx="10927080" cy="5230368"/>
          </a:xfrm>
          <a:prstGeom prst="rect">
            <a:avLst/>
          </a:prstGeom>
          <a:noFill/>
        </p:spPr>
        <p:txBody>
          <a:bodyPr wrap="none" lIns="18288" rIns="18288" tIns="18288" bIns="0" anchor="t">
            <a:spAutoFit/>
          </a:bodyPr>
          <a:lstStyle/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private static final Product[] products = {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new SmartProduct(101, "Lays Chips", 20, 10, "SNACK"),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new SmartProduct(102, "Oreo Biscuits", 30, 8, "SNACK"),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new SmartProduct(103, "Kurkure", 20, 12, "SNACK"),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new SmartProduct(104, "KitKat", 40, 5, "SNACK"),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new SmartProduct(105, "Coca-Cola", 40, 7, "DRINK"),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new SmartProduct(106, "Sprite", 40, 10, "DRINK"),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new SmartProduct(107, "Red Bull", 125, 5, "DRINK"),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new SmartProduct(108, "Dairy Milk", 50, 8, "CHOCOLATE"),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new SmartProduct(109, "Hide &amp; Seek", 35, 6, "SNACK"),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new SmartProduct(110, "Bingo Mad Angles", 20, 9, "SNACK")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};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// MODULE 3: Two-dimensional array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private static final int[][] stockMatrix = {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{10, 8},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{12, 5},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{7, 10},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{5, 8},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{6, 9}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};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// MODULE 6: Collections framework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private static final List&lt;String&gt; cart = new ArrayList&lt;&gt;();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155680" cy="201168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900">
                <a:solidFill>
                  <a:srgbClr val="7891AF"/>
                </a:solidFill>
                <a:latin typeface="Aptos"/>
              </a:defRPr>
            </a:pPr>
            <a:r>
              <a:t>SMART VENDING MACHINE  •  SmartVendingMachine.java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00" b="1">
                <a:solidFill>
                  <a:srgbClr val="00EBC8"/>
                </a:solidFill>
                <a:latin typeface="Aptos Display"/>
              </a:defRPr>
            </a:pPr>
            <a:r>
              <a:t>JAVA SOURCE CODE  |  PART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74320"/>
            <a:ext cx="2514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9BAFC8"/>
                </a:solidFill>
                <a:latin typeface="Aptos"/>
              </a:defRPr>
            </a:pPr>
            <a:r>
              <a:t>LINES 121–144 / 541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841248"/>
            <a:ext cx="11292840" cy="5440680"/>
          </a:xfrm>
          <a:prstGeom prst="roundRect">
            <a:avLst/>
          </a:prstGeom>
          <a:solidFill>
            <a:srgbClr val="121B2F"/>
          </a:solidFill>
          <a:ln>
            <a:solidFill>
              <a:srgbClr val="2B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932688"/>
            <a:ext cx="10927080" cy="5230368"/>
          </a:xfrm>
          <a:prstGeom prst="rect">
            <a:avLst/>
          </a:prstGeom>
          <a:noFill/>
        </p:spPr>
        <p:txBody>
          <a:bodyPr wrap="none" lIns="18288" rIns="18288" tIns="18288" bIns="0" anchor="t">
            <a:spAutoFit/>
          </a:bodyPr>
          <a:lstStyle/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private static final Map&lt;String, Integer&gt; sales = new HashMap&lt;&gt;();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private static final Set&lt;String&gt; categories = new TreeSet&lt;&gt;();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private static double totalRevenue = 0.0;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private static int transactionCount = 0;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public static void main(String[] args) {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initializeMachine();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boolean running = true;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System.out.println("\nBooting futuristic systems...");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System.out.println("AI Core: ONLINE");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System.out.println("Inventory: READY");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System.out.println("Digital Payment: READY");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System.out.println("System Status: ACTIVE");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// MODULE 2: while loop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while (running) {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showMenu();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int choice = readInt("Select an option: ");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// MODULE 2: switch statement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switch (choice) {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155680" cy="201168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900">
                <a:solidFill>
                  <a:srgbClr val="7891AF"/>
                </a:solidFill>
                <a:latin typeface="Aptos"/>
              </a:defRPr>
            </a:pPr>
            <a:r>
              <a:t>SMART VENDING MACHINE  •  SmartVendingMachine.java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00" b="1">
                <a:solidFill>
                  <a:srgbClr val="00EBC8"/>
                </a:solidFill>
                <a:latin typeface="Aptos Display"/>
              </a:defRPr>
            </a:pPr>
            <a:r>
              <a:t>JAVA SOURCE CODE  |  PART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74320"/>
            <a:ext cx="2514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9BAFC8"/>
                </a:solidFill>
                <a:latin typeface="Aptos"/>
              </a:defRPr>
            </a:pPr>
            <a:r>
              <a:t>LINES 145–168 / 541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841248"/>
            <a:ext cx="11292840" cy="5440680"/>
          </a:xfrm>
          <a:prstGeom prst="roundRect">
            <a:avLst/>
          </a:prstGeom>
          <a:solidFill>
            <a:srgbClr val="121B2F"/>
          </a:solidFill>
          <a:ln>
            <a:solidFill>
              <a:srgbClr val="2B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932688"/>
            <a:ext cx="10927080" cy="5230368"/>
          </a:xfrm>
          <a:prstGeom prst="rect">
            <a:avLst/>
          </a:prstGeom>
          <a:noFill/>
        </p:spPr>
        <p:txBody>
          <a:bodyPr wrap="none" lIns="18288" rIns="18288" tIns="18288" bIns="0" anchor="t">
            <a:spAutoFit/>
          </a:bodyPr>
          <a:lstStyle/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    case 1: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        displayProducts();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        break;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    case 2: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        purchaseProduct();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        break;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    case 3: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        recommendProducts();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        break;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    case 4: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        showAnalytics();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        break;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    case 5: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        showStockMatrix();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        break;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    case 6: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        viewTransactions();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        break;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    case 0: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        running = false;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        System.out.println(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            "\nNEOTECH shutting down. Thank you!"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        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        break;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155680" cy="201168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900">
                <a:solidFill>
                  <a:srgbClr val="7891AF"/>
                </a:solidFill>
                <a:latin typeface="Aptos"/>
              </a:defRPr>
            </a:pPr>
            <a:r>
              <a:t>SMART VENDING MACHINE  •  SmartVendingMachine.java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00" b="1">
                <a:solidFill>
                  <a:srgbClr val="00EBC8"/>
                </a:solidFill>
                <a:latin typeface="Aptos Display"/>
              </a:defRPr>
            </a:pPr>
            <a:r>
              <a:t>JAVA SOURCE CODE  |  PART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74320"/>
            <a:ext cx="2514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9BAFC8"/>
                </a:solidFill>
                <a:latin typeface="Aptos"/>
              </a:defRPr>
            </a:pPr>
            <a:r>
              <a:t>LINES 169–192 / 541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841248"/>
            <a:ext cx="11292840" cy="5440680"/>
          </a:xfrm>
          <a:prstGeom prst="roundRect">
            <a:avLst/>
          </a:prstGeom>
          <a:solidFill>
            <a:srgbClr val="121B2F"/>
          </a:solidFill>
          <a:ln>
            <a:solidFill>
              <a:srgbClr val="2B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932688"/>
            <a:ext cx="10927080" cy="5230368"/>
          </a:xfrm>
          <a:prstGeom prst="rect">
            <a:avLst/>
          </a:prstGeom>
          <a:noFill/>
        </p:spPr>
        <p:txBody>
          <a:bodyPr wrap="none" lIns="18288" rIns="18288" tIns="18288" bIns="0" anchor="t">
            <a:spAutoFit/>
          </a:bodyPr>
          <a:lstStyle/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    default: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        System.out.println(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            "Invalid option. Please try again."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        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}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sc.close();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// MODULE 3: Initialization method and enhanced for loop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private static void initializeMachine() {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for (Product p : products) {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categories.add(p.getCategory());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sales.put(p.getName(), 0);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private static void showMenu() {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System.out.println("\n==========================================");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System.out.println("       " + MACHINE_NAME);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System.out.println("==========================================");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System.out.println("1. View Products");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System.out.println("2. Purchase Product");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155680" cy="201168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900">
                <a:solidFill>
                  <a:srgbClr val="7891AF"/>
                </a:solidFill>
                <a:latin typeface="Aptos"/>
              </a:defRPr>
            </a:pPr>
            <a:r>
              <a:t>SMART VENDING MACHINE  •  SmartVendingMachine.java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00" b="1">
                <a:solidFill>
                  <a:srgbClr val="00EBC8"/>
                </a:solidFill>
                <a:latin typeface="Aptos Display"/>
              </a:defRPr>
            </a:pPr>
            <a:r>
              <a:t>JAVA SOURCE CODE  |  PART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74320"/>
            <a:ext cx="2514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9BAFC8"/>
                </a:solidFill>
                <a:latin typeface="Aptos"/>
              </a:defRPr>
            </a:pPr>
            <a:r>
              <a:t>LINES 193–216 / 541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841248"/>
            <a:ext cx="11292840" cy="5440680"/>
          </a:xfrm>
          <a:prstGeom prst="roundRect">
            <a:avLst/>
          </a:prstGeom>
          <a:solidFill>
            <a:srgbClr val="121B2F"/>
          </a:solidFill>
          <a:ln>
            <a:solidFill>
              <a:srgbClr val="2B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932688"/>
            <a:ext cx="10927080" cy="5230368"/>
          </a:xfrm>
          <a:prstGeom prst="rect">
            <a:avLst/>
          </a:prstGeom>
          <a:noFill/>
        </p:spPr>
        <p:txBody>
          <a:bodyPr wrap="none" lIns="18288" rIns="18288" tIns="18288" bIns="0" anchor="t">
            <a:spAutoFit/>
          </a:bodyPr>
          <a:lstStyle/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System.out.println("3. Smart Recommendations");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System.out.println("4. Sales Analytics");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System.out.println("5. Inventory Matrix");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System.out.println("6. Transaction History");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System.out.println("0. Shutdown System");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System.out.println("==========================================");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// MODULE 3: Array traversal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private static void displayProducts() {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System.out.println("\n--- AVAILABLE PRODUCTS ---");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for (Product p : products) {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System.out.println(p);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// MODULE 2: Conditions and MODULE 3: Methods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private static void purchaseProduct() {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displayProducts();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int id = readInt("\nEnter product ID: ");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Product selected = findProductRecursive(id, 0);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155680" cy="201168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900">
                <a:solidFill>
                  <a:srgbClr val="7891AF"/>
                </a:solidFill>
                <a:latin typeface="Aptos"/>
              </a:defRPr>
            </a:pPr>
            <a:r>
              <a:t>SMART VENDING MACHINE  •  SmartVendingMachine.java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00" b="1">
                <a:solidFill>
                  <a:srgbClr val="00EBC8"/>
                </a:solidFill>
                <a:latin typeface="Aptos Display"/>
              </a:defRPr>
            </a:pPr>
            <a:r>
              <a:t>JAVA SOURCE CODE  |  PART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74320"/>
            <a:ext cx="2514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9BAFC8"/>
                </a:solidFill>
                <a:latin typeface="Aptos"/>
              </a:defRPr>
            </a:pPr>
            <a:r>
              <a:t>LINES 217–240 / 541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841248"/>
            <a:ext cx="11292840" cy="5440680"/>
          </a:xfrm>
          <a:prstGeom prst="roundRect">
            <a:avLst/>
          </a:prstGeom>
          <a:solidFill>
            <a:srgbClr val="121B2F"/>
          </a:solidFill>
          <a:ln>
            <a:solidFill>
              <a:srgbClr val="2B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932688"/>
            <a:ext cx="10927080" cy="5230368"/>
          </a:xfrm>
          <a:prstGeom prst="rect">
            <a:avLst/>
          </a:prstGeom>
          <a:noFill/>
        </p:spPr>
        <p:txBody>
          <a:bodyPr wrap="none" lIns="18288" rIns="18288" tIns="18288" bIns="0" anchor="t">
            <a:spAutoFit/>
          </a:bodyPr>
          <a:lstStyle/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if (selected == null) {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System.out.println("ERROR: Product not found.");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return;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if (selected.getStock() &lt;= 0) {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System.out.println("OUT OF STOCK!");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return;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System.out.println("Selected product: " + selected.getName());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String confirm = readText(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"Confirm purchase? (YES/NO): "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// MODULE 5: String comparison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if (!confirm.equalsIgnoreCase("YES")) {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System.out.println("Purchase cancelled.");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return;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int quantity = readInt("Enter quantity: ");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155680" cy="201168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900">
                <a:solidFill>
                  <a:srgbClr val="7891AF"/>
                </a:solidFill>
                <a:latin typeface="Aptos"/>
              </a:defRPr>
            </a:pPr>
            <a:r>
              <a:t>SMART VENDING MACHINE  •  SmartVendingMachine.java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00" b="1">
                <a:solidFill>
                  <a:srgbClr val="00EBC8"/>
                </a:solidFill>
                <a:latin typeface="Aptos Display"/>
              </a:defRPr>
            </a:pPr>
            <a:r>
              <a:t>JAVA SOURCE CODE  |  PART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74320"/>
            <a:ext cx="2514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9BAFC8"/>
                </a:solidFill>
                <a:latin typeface="Aptos"/>
              </a:defRPr>
            </a:pPr>
            <a:r>
              <a:t>LINES 241–264 / 541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841248"/>
            <a:ext cx="11292840" cy="5440680"/>
          </a:xfrm>
          <a:prstGeom prst="roundRect">
            <a:avLst/>
          </a:prstGeom>
          <a:solidFill>
            <a:srgbClr val="121B2F"/>
          </a:solidFill>
          <a:ln>
            <a:solidFill>
              <a:srgbClr val="2B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932688"/>
            <a:ext cx="10927080" cy="5230368"/>
          </a:xfrm>
          <a:prstGeom prst="rect">
            <a:avLst/>
          </a:prstGeom>
          <a:noFill/>
        </p:spPr>
        <p:txBody>
          <a:bodyPr wrap="none" lIns="18288" rIns="18288" tIns="18288" bIns="0" anchor="t">
            <a:spAutoFit/>
          </a:bodyPr>
          <a:lstStyle/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if (quantity &lt;= 0) {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System.out.println("Quantity must be positive.");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return;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if (quantity &gt; selected.getStock()) {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System.out.println("Insufficient stock available.");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return;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double subtotal = selected.getPrice() * quantity;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// MODULE 1: Ternary operator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double discount = subtotal &gt;= 100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? subtotal * 0.05 : 0.0;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double finalAmount = subtotal - discount;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System.out.printf("Subtotal: Rs.%.2f%n", subtotal);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System.out.printf("Discount: Rs.%.2f%n", discount);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System.out.printf("Final amount: Rs.%.2f%n", finalAmount);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double payment = readDouble("Enter payment amount: ");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155680" cy="201168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900">
                <a:solidFill>
                  <a:srgbClr val="7891AF"/>
                </a:solidFill>
                <a:latin typeface="Aptos"/>
              </a:defRPr>
            </a:pPr>
            <a:r>
              <a:t>SMART VENDING MACHINE  •  SmartVendingMachine.java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00" b="1">
                <a:solidFill>
                  <a:srgbClr val="00EBC8"/>
                </a:solidFill>
                <a:latin typeface="Aptos Display"/>
              </a:defRPr>
            </a:pPr>
            <a:r>
              <a:t>JAVA SOURCE CODE  |  PART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74320"/>
            <a:ext cx="2514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9BAFC8"/>
                </a:solidFill>
                <a:latin typeface="Aptos"/>
              </a:defRPr>
            </a:pPr>
            <a:r>
              <a:t>LINES 265–288 / 541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841248"/>
            <a:ext cx="11292840" cy="5440680"/>
          </a:xfrm>
          <a:prstGeom prst="roundRect">
            <a:avLst/>
          </a:prstGeom>
          <a:solidFill>
            <a:srgbClr val="121B2F"/>
          </a:solidFill>
          <a:ln>
            <a:solidFill>
              <a:srgbClr val="2B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932688"/>
            <a:ext cx="10927080" cy="5230368"/>
          </a:xfrm>
          <a:prstGeom prst="rect">
            <a:avLst/>
          </a:prstGeom>
          <a:noFill/>
        </p:spPr>
        <p:txBody>
          <a:bodyPr wrap="none" lIns="18288" rIns="18288" tIns="18288" bIns="0" anchor="t">
            <a:spAutoFit/>
          </a:bodyPr>
          <a:lstStyle/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Payable gateway = new DigitalPayment();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if (!gateway.pay(payment)) {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System.out.println("Invalid payment.");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return;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if (payment &lt; finalAmount) {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System.out.println(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    "Insufficient payment. Transaction cancelled."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return;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// Update inventory only after successful payment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selected.setStock(selected.getStock() - quantity);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totalRevenue += finalAmount;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transactionCount++;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sales.put(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selected.getName(),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sales.get(selected.getName()) + quantity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155680" cy="201168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900">
                <a:solidFill>
                  <a:srgbClr val="7891AF"/>
                </a:solidFill>
                <a:latin typeface="Aptos"/>
              </a:defRPr>
            </a:pPr>
            <a:r>
              <a:t>SMART VENDING MACHINE  •  SmartVendingMachine.java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00" b="1">
                <a:solidFill>
                  <a:srgbClr val="00EBC8"/>
                </a:solidFill>
                <a:latin typeface="Aptos Display"/>
              </a:defRPr>
            </a:pPr>
            <a:r>
              <a:t>JAVA SOURCE CODE  |  PART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74320"/>
            <a:ext cx="2514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9BAFC8"/>
                </a:solidFill>
                <a:latin typeface="Aptos"/>
              </a:defRPr>
            </a:pPr>
            <a:r>
              <a:t>LINES 289–312 / 541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841248"/>
            <a:ext cx="11292840" cy="5440680"/>
          </a:xfrm>
          <a:prstGeom prst="roundRect">
            <a:avLst/>
          </a:prstGeom>
          <a:solidFill>
            <a:srgbClr val="121B2F"/>
          </a:solidFill>
          <a:ln>
            <a:solidFill>
              <a:srgbClr val="2B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932688"/>
            <a:ext cx="10927080" cy="5230368"/>
          </a:xfrm>
          <a:prstGeom prst="rect">
            <a:avLst/>
          </a:prstGeom>
          <a:noFill/>
        </p:spPr>
        <p:txBody>
          <a:bodyPr wrap="none" lIns="18288" rIns="18288" tIns="18288" bIns="0" anchor="t">
            <a:spAutoFit/>
          </a:bodyPr>
          <a:lstStyle/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// MODULE 6: List collection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cart.add(selected.getName() + " x " + quantity);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double change = payment - finalAmount;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System.out.println("\n==========================================");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System.out.println("           DIGITAL RECEIPT");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System.out.println("==========================================");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System.out.println("Machine  : " + MACHINE_NAME);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System.out.println("Product  : " + selected.getName());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System.out.println("Quantity : " + quantity);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System.out.printf("Subtotal : Rs.%.2f%n", subtotal);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System.out.printf("Discount : Rs.%.2f%n", discount);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System.out.printf("Total    : Rs.%.2f%n", finalAmount);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System.out.printf("Paid     : Rs.%.2f%n", payment);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System.out.printf("Change   : Rs.%.2f%n", change);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System.out.println("Status   : PAYMENT SUCCESSFUL");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System.out.println("==========================================");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saveTransaction(selected, quantity, finalAmount, change);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155680" cy="201168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900">
                <a:solidFill>
                  <a:srgbClr val="7891AF"/>
                </a:solidFill>
                <a:latin typeface="Aptos"/>
              </a:defRPr>
            </a:pPr>
            <a:r>
              <a:t>SMART VENDING MACHINE  •  SmartVendingMachine.java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00" b="1">
                <a:solidFill>
                  <a:srgbClr val="00EBC8"/>
                </a:solidFill>
                <a:latin typeface="Aptos Display"/>
              </a:defRPr>
            </a:pPr>
            <a:r>
              <a:t>JAVA SOURCE CODE  |  PART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74320"/>
            <a:ext cx="2514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9BAFC8"/>
                </a:solidFill>
                <a:latin typeface="Aptos"/>
              </a:defRPr>
            </a:pPr>
            <a:r>
              <a:t>LINES 313–336 / 541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841248"/>
            <a:ext cx="11292840" cy="5440680"/>
          </a:xfrm>
          <a:prstGeom prst="roundRect">
            <a:avLst/>
          </a:prstGeom>
          <a:solidFill>
            <a:srgbClr val="121B2F"/>
          </a:solidFill>
          <a:ln>
            <a:solidFill>
              <a:srgbClr val="2B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932688"/>
            <a:ext cx="10927080" cy="5230368"/>
          </a:xfrm>
          <a:prstGeom prst="rect">
            <a:avLst/>
          </a:prstGeom>
          <a:noFill/>
        </p:spPr>
        <p:txBody>
          <a:bodyPr wrap="none" lIns="18288" rIns="18288" tIns="18288" bIns="0" anchor="t">
            <a:spAutoFit/>
          </a:bodyPr>
          <a:lstStyle/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// MODULE 3: Recursion with base and recursive cases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private static Product findProductRecursive(int id, int index) {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if (index &gt;= products.length) {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return null;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if (products[index].getId() == id) {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return products[index];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return findProductRecursive(id, index + 1);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// MODULE 6: Streams, filter, sorted and collect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private static void recommendProducts() {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System.out.println("\n--- SMART RECOMMENDATION ENGINE ---");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System.out.println("Available categories: " + categories);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String category = readText(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"Choose category (SNACK, DRINK, CHOCOLATE): "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).toUpperCase(Locale.ROOT);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List&lt;Product&gt; recommendations = Arrays.stream(products)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.filter(p -&gt; p.getCategory().equals(category))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155680" cy="201168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900">
                <a:solidFill>
                  <a:srgbClr val="7891AF"/>
                </a:solidFill>
                <a:latin typeface="Aptos"/>
              </a:defRPr>
            </a:pPr>
            <a:r>
              <a:t>SMART VENDING MACHINE  •  SmartVendingMachine.java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00" b="1">
                <a:solidFill>
                  <a:srgbClr val="00EBC8"/>
                </a:solidFill>
                <a:latin typeface="Aptos Display"/>
              </a:defRPr>
            </a:pPr>
            <a:r>
              <a:t>JAVA SOURCE CODE  |  PART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74320"/>
            <a:ext cx="2514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9BAFC8"/>
                </a:solidFill>
                <a:latin typeface="Aptos"/>
              </a:defRPr>
            </a:pPr>
            <a:r>
              <a:t>LINES 337–360 / 541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841248"/>
            <a:ext cx="11292840" cy="5440680"/>
          </a:xfrm>
          <a:prstGeom prst="roundRect">
            <a:avLst/>
          </a:prstGeom>
          <a:solidFill>
            <a:srgbClr val="121B2F"/>
          </a:solidFill>
          <a:ln>
            <a:solidFill>
              <a:srgbClr val="2B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932688"/>
            <a:ext cx="10927080" cy="5230368"/>
          </a:xfrm>
          <a:prstGeom prst="rect">
            <a:avLst/>
          </a:prstGeom>
          <a:noFill/>
        </p:spPr>
        <p:txBody>
          <a:bodyPr wrap="none" lIns="18288" rIns="18288" tIns="18288" bIns="0" anchor="t">
            <a:spAutoFit/>
          </a:bodyPr>
          <a:lstStyle/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.filter(p -&gt; p.getStock() &gt; 0)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.sorted(Comparator.comparingDouble(Product::getPrice))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.collect(Collectors.toList());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if (recommendations.isEmpty()) {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System.out.println(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    "No products available in this category."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} else {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System.out.println("Recommended products:");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recommendations.forEach(System.out::println);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// MODULE 6: Stream processing and grouping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private static void showAnalytics() {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System.out.println("\n--- SALES ANALYTICS DASHBOARD ---");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System.out.printf(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"Total Revenue: Rs.%.2f%n", totalRevenue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System.out.println(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155680" cy="201168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900">
                <a:solidFill>
                  <a:srgbClr val="7891AF"/>
                </a:solidFill>
                <a:latin typeface="Aptos"/>
              </a:defRPr>
            </a:pPr>
            <a:r>
              <a:t>SMART VENDING MACHINE  •  SmartVendingMachine.java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00" b="1">
                <a:solidFill>
                  <a:srgbClr val="00EBC8"/>
                </a:solidFill>
                <a:latin typeface="Aptos Display"/>
              </a:defRPr>
            </a:pPr>
            <a:r>
              <a:t>JAVA SOURCE CODE  |  PART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74320"/>
            <a:ext cx="2514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9BAFC8"/>
                </a:solidFill>
                <a:latin typeface="Aptos"/>
              </a:defRPr>
            </a:pPr>
            <a:r>
              <a:t>LINES 361–384 / 541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841248"/>
            <a:ext cx="11292840" cy="5440680"/>
          </a:xfrm>
          <a:prstGeom prst="roundRect">
            <a:avLst/>
          </a:prstGeom>
          <a:solidFill>
            <a:srgbClr val="121B2F"/>
          </a:solidFill>
          <a:ln>
            <a:solidFill>
              <a:srgbClr val="2B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932688"/>
            <a:ext cx="10927080" cy="5230368"/>
          </a:xfrm>
          <a:prstGeom prst="rect">
            <a:avLst/>
          </a:prstGeom>
          <a:noFill/>
        </p:spPr>
        <p:txBody>
          <a:bodyPr wrap="none" lIns="18288" rIns="18288" tIns="18288" bIns="0" anchor="t">
            <a:spAutoFit/>
          </a:bodyPr>
          <a:lstStyle/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"Completed Transactions: " + transactionCount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System.out.println("\nProducts by Category:");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Map&lt;String, Long&gt; report = Arrays.stream(products)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.collect(Collectors.groupingBy(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    Product::getCategory,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    TreeMap::new,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    Collectors.counting()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));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report.forEach((category, count) -&gt;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System.out.println(category + ": " + count + " products")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System.out.println("\nUnits Sold:");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sales.forEach((name, quantity) -&gt;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System.out.println(name + " -&gt; " + quantity)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// MODULE 5: Sorting using Arrays.sort and Comparator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Product[] sortedProducts = products.clone();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155680" cy="201168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900">
                <a:solidFill>
                  <a:srgbClr val="7891AF"/>
                </a:solidFill>
                <a:latin typeface="Aptos"/>
              </a:defRPr>
            </a:pPr>
            <a:r>
              <a:t>SMART VENDING MACHINE  •  SmartVendingMachine.java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00" b="1">
                <a:solidFill>
                  <a:srgbClr val="00EBC8"/>
                </a:solidFill>
                <a:latin typeface="Aptos Display"/>
              </a:defRPr>
            </a:pPr>
            <a:r>
              <a:t>JAVA SOURCE CODE  |  PART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74320"/>
            <a:ext cx="2514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9BAFC8"/>
                </a:solidFill>
                <a:latin typeface="Aptos"/>
              </a:defRPr>
            </a:pPr>
            <a:r>
              <a:t>LINES 385–408 / 541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841248"/>
            <a:ext cx="11292840" cy="5440680"/>
          </a:xfrm>
          <a:prstGeom prst="roundRect">
            <a:avLst/>
          </a:prstGeom>
          <a:solidFill>
            <a:srgbClr val="121B2F"/>
          </a:solidFill>
          <a:ln>
            <a:solidFill>
              <a:srgbClr val="2B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932688"/>
            <a:ext cx="10927080" cy="5230368"/>
          </a:xfrm>
          <a:prstGeom prst="rect">
            <a:avLst/>
          </a:prstGeom>
          <a:noFill/>
        </p:spPr>
        <p:txBody>
          <a:bodyPr wrap="none" lIns="18288" rIns="18288" tIns="18288" bIns="0" anchor="t">
            <a:spAutoFit/>
          </a:bodyPr>
          <a:lstStyle/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Arrays.sort(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sortedProducts,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Comparator.comparingDouble(Product::getPrice)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System.out.println("\nProducts Sorted by Price:");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for (Product p : sortedProducts) {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System.out.printf(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    "%-20s Rs.%.2f%n", p.getName(), p.getPrice()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// MODULE 1: Bitwise operator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int loyaltyPoints = transactionCount &lt;&lt; 1;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System.out.println(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"\nDigital Loyalty Points: " + loyaltyPoints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// MODULE 3: Two-dimensional array traversal and summation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private static void showStockMatrix() {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155680" cy="201168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900">
                <a:solidFill>
                  <a:srgbClr val="7891AF"/>
                </a:solidFill>
                <a:latin typeface="Aptos"/>
              </a:defRPr>
            </a:pPr>
            <a:r>
              <a:t>SMART VENDING MACHINE  •  SmartVendingMachine.java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00" b="1">
                <a:solidFill>
                  <a:srgbClr val="00EBC8"/>
                </a:solidFill>
                <a:latin typeface="Aptos Display"/>
              </a:defRPr>
            </a:pPr>
            <a:r>
              <a:t>JAVA SOURCE CODE  |  PART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74320"/>
            <a:ext cx="2514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9BAFC8"/>
                </a:solidFill>
                <a:latin typeface="Aptos"/>
              </a:defRPr>
            </a:pPr>
            <a:r>
              <a:t>LINES 409–432 / 541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841248"/>
            <a:ext cx="11292840" cy="5440680"/>
          </a:xfrm>
          <a:prstGeom prst="roundRect">
            <a:avLst/>
          </a:prstGeom>
          <a:solidFill>
            <a:srgbClr val="121B2F"/>
          </a:solidFill>
          <a:ln>
            <a:solidFill>
              <a:srgbClr val="2B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932688"/>
            <a:ext cx="10927080" cy="5230368"/>
          </a:xfrm>
          <a:prstGeom prst="rect">
            <a:avLst/>
          </a:prstGeom>
          <a:noFill/>
        </p:spPr>
        <p:txBody>
          <a:bodyPr wrap="none" lIns="18288" rIns="18288" tIns="18288" bIns="0" anchor="t">
            <a:spAutoFit/>
          </a:bodyPr>
          <a:lstStyle/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System.out.println("\n--- INVENTORY MATRIX ---");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int total = 0;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for (int i = 0; i &lt; stockMatrix.length; i++) {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int rowTotal = 0;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for (int j = 0; j &lt; stockMatrix[i].length; j++) {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    System.out.print(stockMatrix[i][j] + "\t");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    rowTotal += stockMatrix[i][j];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}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System.out.println("| Row total: " + rowTotal);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total += rowTotal;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System.out.println("Matrix total: " + total);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System.out.println(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"Note: This is a sample matrix, not live stock."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// MODULE 5: Append transactions to a text file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private static void saveTransaction(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155680" cy="201168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900">
                <a:solidFill>
                  <a:srgbClr val="7891AF"/>
                </a:solidFill>
                <a:latin typeface="Aptos"/>
              </a:defRPr>
            </a:pPr>
            <a:r>
              <a:t>SMART VENDING MACHINE  •  SmartVendingMachine.java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00" b="1">
                <a:solidFill>
                  <a:srgbClr val="00EBC8"/>
                </a:solidFill>
                <a:latin typeface="Aptos Display"/>
              </a:defRPr>
            </a:pPr>
            <a:r>
              <a:t>JAVA SOURCE CODE  |  PART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74320"/>
            <a:ext cx="2514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9BAFC8"/>
                </a:solidFill>
                <a:latin typeface="Aptos"/>
              </a:defRPr>
            </a:pPr>
            <a:r>
              <a:t>LINES 433–456 / 541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841248"/>
            <a:ext cx="11292840" cy="5440680"/>
          </a:xfrm>
          <a:prstGeom prst="roundRect">
            <a:avLst/>
          </a:prstGeom>
          <a:solidFill>
            <a:srgbClr val="121B2F"/>
          </a:solidFill>
          <a:ln>
            <a:solidFill>
              <a:srgbClr val="2B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932688"/>
            <a:ext cx="10927080" cy="5230368"/>
          </a:xfrm>
          <a:prstGeom prst="rect">
            <a:avLst/>
          </a:prstGeom>
          <a:noFill/>
        </p:spPr>
        <p:txBody>
          <a:bodyPr wrap="none" lIns="18288" rIns="18288" tIns="18288" bIns="0" anchor="t">
            <a:spAutoFit/>
          </a:bodyPr>
          <a:lstStyle/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Product p, int quantity, double amount, double change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) {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String time = LocalDateTime.now().format(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DateTimeFormatter.ofPattern("yyyy-MM-dd HH:mm:ss")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StringBuilder record = new StringBuilder();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record.append(time)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  .append(" | Product: ").append(p.getName())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  .append(" | Quantity: ").append(quantity)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  .append(" | Amount: ")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  .append(String.format(Locale.ROOT, "%.2f", amount))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  .append(" | Change: ")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  .append(String.format(Locale.ROOT, "%.2f", change))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  .append(System.lineSeparator());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try {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Files.write(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    Paths.get(FILE_NAME),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    record.toString().getBytes(StandardCharsets.UTF_8),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    StandardOpenOption.CREATE,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    StandardOpenOption.APPEND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155680" cy="201168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900">
                <a:solidFill>
                  <a:srgbClr val="7891AF"/>
                </a:solidFill>
                <a:latin typeface="Aptos"/>
              </a:defRPr>
            </a:pPr>
            <a:r>
              <a:t>SMART VENDING MACHINE  •  SmartVendingMachine.java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00" b="1">
                <a:solidFill>
                  <a:srgbClr val="00EBC8"/>
                </a:solidFill>
                <a:latin typeface="Aptos Display"/>
              </a:defRPr>
            </a:pPr>
            <a:r>
              <a:t>JAVA SOURCE CODE  |  PART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74320"/>
            <a:ext cx="2514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9BAFC8"/>
                </a:solidFill>
                <a:latin typeface="Aptos"/>
              </a:defRPr>
            </a:pPr>
            <a:r>
              <a:t>LINES 457–480 / 541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841248"/>
            <a:ext cx="11292840" cy="5440680"/>
          </a:xfrm>
          <a:prstGeom prst="roundRect">
            <a:avLst/>
          </a:prstGeom>
          <a:solidFill>
            <a:srgbClr val="121B2F"/>
          </a:solidFill>
          <a:ln>
            <a:solidFill>
              <a:srgbClr val="2B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932688"/>
            <a:ext cx="10927080" cy="5230368"/>
          </a:xfrm>
          <a:prstGeom prst="rect">
            <a:avLst/>
          </a:prstGeom>
          <a:noFill/>
        </p:spPr>
        <p:txBody>
          <a:bodyPr wrap="none" lIns="18288" rIns="18288" tIns="18288" bIns="0" anchor="t">
            <a:spAutoFit/>
          </a:bodyPr>
          <a:lstStyle/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System.out.println(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    "Transaction saved to " + FILE_NAME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} catch (IOException e) {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System.out.println(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    "Could not save transaction: " + e.getMessage()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// MODULE 5: Read transaction history using try-with-resources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private static void viewTransactions() {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Path path = Paths.get(FILE_NAME);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if (!Files.exists(path)) {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System.out.println("No saved transactions yet.");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return;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System.out.println("\n--- TRANSACTION HISTORY ---");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try (java.io.BufferedReader reader =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     Files.newBufferedReader(path, StandardCharsets.UTF_8)) {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155680" cy="201168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900">
                <a:solidFill>
                  <a:srgbClr val="7891AF"/>
                </a:solidFill>
                <a:latin typeface="Aptos"/>
              </a:defRPr>
            </a:pPr>
            <a:r>
              <a:t>SMART VENDING MACHINE  •  SmartVendingMachine.java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00" b="1">
                <a:solidFill>
                  <a:srgbClr val="00EBC8"/>
                </a:solidFill>
                <a:latin typeface="Aptos Display"/>
              </a:defRPr>
            </a:pPr>
            <a:r>
              <a:t>JAVA SOURCE CODE  |  PART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74320"/>
            <a:ext cx="2514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9BAFC8"/>
                </a:solidFill>
                <a:latin typeface="Aptos"/>
              </a:defRPr>
            </a:pPr>
            <a:r>
              <a:t>LINES 481–504 / 541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841248"/>
            <a:ext cx="11292840" cy="5440680"/>
          </a:xfrm>
          <a:prstGeom prst="roundRect">
            <a:avLst/>
          </a:prstGeom>
          <a:solidFill>
            <a:srgbClr val="121B2F"/>
          </a:solidFill>
          <a:ln>
            <a:solidFill>
              <a:srgbClr val="2B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932688"/>
            <a:ext cx="10927080" cy="5230368"/>
          </a:xfrm>
          <a:prstGeom prst="rect">
            <a:avLst/>
          </a:prstGeom>
          <a:noFill/>
        </p:spPr>
        <p:txBody>
          <a:bodyPr wrap="none" lIns="18288" rIns="18288" tIns="18288" bIns="0" anchor="t">
            <a:spAutoFit/>
          </a:bodyPr>
          <a:lstStyle/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String line;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while ((line = reader.readLine()) != null) {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    System.out.println(line);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}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} catch (IOException e) {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System.out.println(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    "Could not read transactions: " + e.getMessage()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// MODULE 1 and MODULE 5: Validated integer input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private static int readInt(String prompt) {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while (true) {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System.out.print(prompt);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try {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    return Integer.parseInt(sc.nextLine().trim());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} catch (NumberFormatException e) {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    System.out.println(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        "Invalid input. Enter a whole number."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155680" cy="201168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900">
                <a:solidFill>
                  <a:srgbClr val="7891AF"/>
                </a:solidFill>
                <a:latin typeface="Aptos"/>
              </a:defRPr>
            </a:pPr>
            <a:r>
              <a:t>SMART VENDING MACHINE  •  SmartVendingMachine.java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00" b="1">
                <a:solidFill>
                  <a:srgbClr val="00EBC8"/>
                </a:solidFill>
                <a:latin typeface="Aptos Display"/>
              </a:defRPr>
            </a:pPr>
            <a:r>
              <a:t>JAVA SOURCE CODE  |  PART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74320"/>
            <a:ext cx="2514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9BAFC8"/>
                </a:solidFill>
                <a:latin typeface="Aptos"/>
              </a:defRPr>
            </a:pPr>
            <a:r>
              <a:t>LINES 505–528 / 541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841248"/>
            <a:ext cx="11292840" cy="5440680"/>
          </a:xfrm>
          <a:prstGeom prst="roundRect">
            <a:avLst/>
          </a:prstGeom>
          <a:solidFill>
            <a:srgbClr val="121B2F"/>
          </a:solidFill>
          <a:ln>
            <a:solidFill>
              <a:srgbClr val="2B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932688"/>
            <a:ext cx="10927080" cy="5230368"/>
          </a:xfrm>
          <a:prstGeom prst="rect">
            <a:avLst/>
          </a:prstGeom>
          <a:noFill/>
        </p:spPr>
        <p:txBody>
          <a:bodyPr wrap="none" lIns="18288" rIns="18288" tIns="18288" bIns="0" anchor="t">
            <a:spAutoFit/>
          </a:bodyPr>
          <a:lstStyle/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    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}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// MODULE 1: Validated numeric input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private static double readDouble(String prompt) {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while (true) {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System.out.print(prompt);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try {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    double value = Double.parseDouble(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        sc.nextLine().trim()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    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    if (Double.isFinite(value) &amp;&amp; value &gt;= 0) {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        return value;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    }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    System.out.println(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        "Enter a valid non-negative amount."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    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} catch (NumberFormatException e) {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155680" cy="201168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900">
                <a:solidFill>
                  <a:srgbClr val="7891AF"/>
                </a:solidFill>
                <a:latin typeface="Aptos"/>
              </a:defRPr>
            </a:pPr>
            <a:r>
              <a:t>SMART VENDING MACHINE  •  SmartVendingMachine.java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00" b="1">
                <a:solidFill>
                  <a:srgbClr val="00EBC8"/>
                </a:solidFill>
                <a:latin typeface="Aptos Display"/>
              </a:defRPr>
            </a:pPr>
            <a:r>
              <a:t>JAVA SOURCE CODE  |  PART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74320"/>
            <a:ext cx="2514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9BAFC8"/>
                </a:solidFill>
                <a:latin typeface="Aptos"/>
              </a:defRPr>
            </a:pPr>
            <a:r>
              <a:t>LINES 529–541 / 541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841248"/>
            <a:ext cx="11292840" cy="5440680"/>
          </a:xfrm>
          <a:prstGeom prst="roundRect">
            <a:avLst/>
          </a:prstGeom>
          <a:solidFill>
            <a:srgbClr val="121B2F"/>
          </a:solidFill>
          <a:ln>
            <a:solidFill>
              <a:srgbClr val="2B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932688"/>
            <a:ext cx="10927080" cy="5230368"/>
          </a:xfrm>
          <a:prstGeom prst="rect">
            <a:avLst/>
          </a:prstGeom>
          <a:noFill/>
        </p:spPr>
        <p:txBody>
          <a:bodyPr wrap="none" lIns="18288" rIns="18288" tIns="18288" bIns="0" anchor="t">
            <a:spAutoFit/>
          </a:bodyPr>
          <a:lstStyle/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    System.out.println(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        "Invalid amount. Enter a number."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    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    }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// MODULE 5: String trimming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private static String readText(String prompt) {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System.out.print(prompt);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    return sc.nextLine().trim();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E1EBF8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155680" cy="201168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900">
                <a:solidFill>
                  <a:srgbClr val="7891AF"/>
                </a:solidFill>
                <a:latin typeface="Aptos"/>
              </a:defRPr>
            </a:pPr>
            <a:r>
              <a:t>SMART VENDING MACHINE  •  SmartVendingMachine.java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400" b="1">
                <a:solidFill>
                  <a:srgbClr val="00EBC8"/>
                </a:solidFill>
                <a:latin typeface="Aptos Display"/>
              </a:defRPr>
            </a:pPr>
            <a:r>
              <a:t>FINAL SLIDE  |  SAMPLE PROGRAM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00">
                <a:solidFill>
                  <a:srgbClr val="BECDE1"/>
                </a:solidFill>
                <a:latin typeface="Aptos"/>
              </a:defRPr>
            </a:pPr>
            <a:r>
              <a:t>Example run: choose Purchase Product → KitKat (ID 104) → quantity 3 → pay Rs.120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53312"/>
            <a:ext cx="10972800" cy="4983480"/>
          </a:xfrm>
          <a:prstGeom prst="roundRect">
            <a:avLst/>
          </a:prstGeom>
          <a:solidFill>
            <a:srgbClr val="121B2F"/>
          </a:solidFill>
          <a:ln>
            <a:solidFill>
              <a:srgbClr val="2B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72768"/>
            <a:ext cx="10424160" cy="45262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400"/>
              </a:spcAft>
              <a:defRPr sz="1400">
                <a:solidFill>
                  <a:srgbClr val="E1F5FA"/>
                </a:solidFill>
                <a:latin typeface="Consolas"/>
              </a:defRPr>
            </a:pPr>
            <a:r>
              <a:t>==========================================</a:t>
            </a:r>
          </a:p>
          <a:p>
            <a:pPr>
              <a:lnSpc>
                <a:spcPts val="2100"/>
              </a:lnSpc>
              <a:spcBef>
                <a:spcPts val="0"/>
              </a:spcBef>
              <a:spcAft>
                <a:spcPts val="400"/>
              </a:spcAft>
              <a:defRPr sz="1700" b="1">
                <a:solidFill>
                  <a:srgbClr val="00EBC8"/>
                </a:solidFill>
                <a:latin typeface="Consolas"/>
              </a:defRPr>
            </a:pPr>
            <a:r>
              <a:t>           DIGITAL RECEIPT</a:t>
            </a:r>
          </a:p>
          <a:p>
            <a:pPr>
              <a:lnSpc>
                <a:spcPts val="2100"/>
              </a:lnSpc>
              <a:spcBef>
                <a:spcPts val="0"/>
              </a:spcBef>
              <a:spcAft>
                <a:spcPts val="400"/>
              </a:spcAft>
              <a:defRPr sz="1400">
                <a:solidFill>
                  <a:srgbClr val="E1F5FA"/>
                </a:solidFill>
                <a:latin typeface="Consolas"/>
              </a:defRPr>
            </a:pPr>
            <a:r>
              <a:t>==========================================</a:t>
            </a:r>
          </a:p>
          <a:p>
            <a:pPr>
              <a:lnSpc>
                <a:spcPts val="2100"/>
              </a:lnSpc>
              <a:spcBef>
                <a:spcPts val="0"/>
              </a:spcBef>
              <a:spcAft>
                <a:spcPts val="400"/>
              </a:spcAft>
              <a:defRPr sz="1700">
                <a:solidFill>
                  <a:srgbClr val="E1F5FA"/>
                </a:solidFill>
                <a:latin typeface="Consolas"/>
              </a:defRPr>
            </a:pPr>
            <a:r>
              <a:t>Machine  : NEOTECH AI VENDING SYSTEM</a:t>
            </a:r>
          </a:p>
          <a:p>
            <a:pPr>
              <a:lnSpc>
                <a:spcPts val="2100"/>
              </a:lnSpc>
              <a:spcBef>
                <a:spcPts val="0"/>
              </a:spcBef>
              <a:spcAft>
                <a:spcPts val="400"/>
              </a:spcAft>
              <a:defRPr sz="1700">
                <a:solidFill>
                  <a:srgbClr val="E1F5FA"/>
                </a:solidFill>
                <a:latin typeface="Consolas"/>
              </a:defRPr>
            </a:pPr>
            <a:r>
              <a:t>Product  : KitKat</a:t>
            </a:r>
          </a:p>
          <a:p>
            <a:pPr>
              <a:lnSpc>
                <a:spcPts val="2100"/>
              </a:lnSpc>
              <a:spcBef>
                <a:spcPts val="0"/>
              </a:spcBef>
              <a:spcAft>
                <a:spcPts val="400"/>
              </a:spcAft>
              <a:defRPr sz="1700">
                <a:solidFill>
                  <a:srgbClr val="E1F5FA"/>
                </a:solidFill>
                <a:latin typeface="Consolas"/>
              </a:defRPr>
            </a:pPr>
            <a:r>
              <a:t>Quantity : 3</a:t>
            </a:r>
          </a:p>
          <a:p>
            <a:pPr>
              <a:lnSpc>
                <a:spcPts val="2100"/>
              </a:lnSpc>
              <a:spcBef>
                <a:spcPts val="0"/>
              </a:spcBef>
              <a:spcAft>
                <a:spcPts val="400"/>
              </a:spcAft>
              <a:defRPr sz="1700">
                <a:solidFill>
                  <a:srgbClr val="E1F5FA"/>
                </a:solidFill>
                <a:latin typeface="Consolas"/>
              </a:defRPr>
            </a:pPr>
            <a:r>
              <a:t>Subtotal : Rs.120.00</a:t>
            </a:r>
          </a:p>
          <a:p>
            <a:pPr>
              <a:lnSpc>
                <a:spcPts val="2100"/>
              </a:lnSpc>
              <a:spcBef>
                <a:spcPts val="0"/>
              </a:spcBef>
              <a:spcAft>
                <a:spcPts val="400"/>
              </a:spcAft>
              <a:defRPr sz="1700">
                <a:solidFill>
                  <a:srgbClr val="E1F5FA"/>
                </a:solidFill>
                <a:latin typeface="Consolas"/>
              </a:defRPr>
            </a:pPr>
            <a:r>
              <a:t>Discount : Rs.6.00</a:t>
            </a:r>
          </a:p>
          <a:p>
            <a:pPr>
              <a:lnSpc>
                <a:spcPts val="2100"/>
              </a:lnSpc>
              <a:spcBef>
                <a:spcPts val="0"/>
              </a:spcBef>
              <a:spcAft>
                <a:spcPts val="400"/>
              </a:spcAft>
              <a:defRPr sz="1700">
                <a:solidFill>
                  <a:srgbClr val="E1F5FA"/>
                </a:solidFill>
                <a:latin typeface="Consolas"/>
              </a:defRPr>
            </a:pPr>
            <a:r>
              <a:t>Total    : Rs.114.00</a:t>
            </a:r>
          </a:p>
          <a:p>
            <a:pPr>
              <a:lnSpc>
                <a:spcPts val="2100"/>
              </a:lnSpc>
              <a:spcBef>
                <a:spcPts val="0"/>
              </a:spcBef>
              <a:spcAft>
                <a:spcPts val="400"/>
              </a:spcAft>
              <a:defRPr sz="1700">
                <a:solidFill>
                  <a:srgbClr val="E1F5FA"/>
                </a:solidFill>
                <a:latin typeface="Consolas"/>
              </a:defRPr>
            </a:pPr>
            <a:r>
              <a:t>Paid     : Rs.120.00</a:t>
            </a:r>
          </a:p>
          <a:p>
            <a:pPr>
              <a:lnSpc>
                <a:spcPts val="2100"/>
              </a:lnSpc>
              <a:spcBef>
                <a:spcPts val="0"/>
              </a:spcBef>
              <a:spcAft>
                <a:spcPts val="400"/>
              </a:spcAft>
              <a:defRPr sz="1700">
                <a:solidFill>
                  <a:srgbClr val="E1F5FA"/>
                </a:solidFill>
                <a:latin typeface="Consolas"/>
              </a:defRPr>
            </a:pPr>
            <a:r>
              <a:t>Change   : Rs.6.00</a:t>
            </a:r>
          </a:p>
          <a:p>
            <a:pPr>
              <a:lnSpc>
                <a:spcPts val="2100"/>
              </a:lnSpc>
              <a:spcBef>
                <a:spcPts val="0"/>
              </a:spcBef>
              <a:spcAft>
                <a:spcPts val="400"/>
              </a:spcAft>
              <a:defRPr sz="1700" b="1">
                <a:solidFill>
                  <a:srgbClr val="00EBC8"/>
                </a:solidFill>
                <a:latin typeface="Consolas"/>
              </a:defRPr>
            </a:pPr>
            <a:r>
              <a:t>Status   : PAYMENT SUCCESSFUL</a:t>
            </a:r>
          </a:p>
          <a:p>
            <a:pPr>
              <a:lnSpc>
                <a:spcPts val="2100"/>
              </a:lnSpc>
              <a:spcBef>
                <a:spcPts val="0"/>
              </a:spcBef>
              <a:spcAft>
                <a:spcPts val="400"/>
              </a:spcAft>
              <a:defRPr sz="1400">
                <a:solidFill>
                  <a:srgbClr val="E1F5FA"/>
                </a:solidFill>
                <a:latin typeface="Consolas"/>
              </a:defRPr>
            </a:pPr>
            <a:r>
              <a:t>==========================================</a:t>
            </a:r>
          </a:p>
          <a:p>
            <a:pPr>
              <a:lnSpc>
                <a:spcPts val="2100"/>
              </a:lnSpc>
              <a:spcBef>
                <a:spcPts val="0"/>
              </a:spcBef>
              <a:spcAft>
                <a:spcPts val="400"/>
              </a:spcAft>
              <a:defRPr sz="1700">
                <a:solidFill>
                  <a:srgbClr val="E1F5FA"/>
                </a:solidFill>
                <a:latin typeface="Consolas"/>
              </a:defRPr>
            </a:pPr>
            <a:r>
              <a:t>Transaction saved to transactions.txt</a:t>
            </a:r>
          </a:p>
          <a:p>
            <a:pPr>
              <a:lnSpc>
                <a:spcPts val="2100"/>
              </a:lnSpc>
              <a:spcBef>
                <a:spcPts val="0"/>
              </a:spcBef>
              <a:spcAft>
                <a:spcPts val="400"/>
              </a:spcAft>
              <a:defRPr sz="1700">
                <a:solidFill>
                  <a:srgbClr val="E1F5FA"/>
                </a:solidFill>
                <a:latin typeface="Consolas"/>
              </a:defRPr>
            </a:pPr>
          </a:p>
          <a:p>
            <a:pPr>
              <a:lnSpc>
                <a:spcPts val="2100"/>
              </a:lnSpc>
              <a:spcBef>
                <a:spcPts val="0"/>
              </a:spcBef>
              <a:spcAft>
                <a:spcPts val="400"/>
              </a:spcAft>
              <a:defRPr sz="1700">
                <a:solidFill>
                  <a:srgbClr val="E1F5FA"/>
                </a:solidFill>
                <a:latin typeface="Consolas"/>
              </a:defRPr>
            </a:pPr>
            <a:r>
              <a:t>NEOTECH shutting down. Thank you!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>
                <a:solidFill>
                  <a:srgbClr val="7891AF"/>
                </a:solidFill>
                <a:latin typeface="Aptos"/>
              </a:defRPr>
            </a:pPr>
            <a:r>
              <a:t>Output generated by running the supplied Java program with the example inputs above.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